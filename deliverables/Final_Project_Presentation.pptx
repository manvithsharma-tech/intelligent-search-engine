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guide Dr. Ardra P S and panel members. Today our team—Manvith Sharma, Prasad, Sai Prasanna, and Jhanavi—presents our B.Tech final capstone project: 'Intelligent Search Engine using Compressed Trie and Inverted Index'. This project introduces a zero-dependency, high-performance information retrieval architecture combining an O(L) Radix Trie, inverted indexing with Coverage-Aware TF-IDF, Okapi BM25, and 128-dimensional Latent Semantic Analysis across a verified 50,000-document multi-domain corpus.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executive overview, we highlight the three pillars of our project. First, the core challenge: baseline vector-space models and TF-IDF lack term coverage awareness, producing severe ranking anomalies on multi-term queries. Second, our integrated solution: combining an edge-compressed Radix Trie, inverted indexing, Coverage-Aware TF-IDF, Okapi BM25, and 128-D LSA into a coherent engine. Third, verified empirical results: a 20% gain in Precision@5, near-instant prefix suggestions, and a compact 132 MB heap footprint.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clearly articulate why this project matters, look at this concrete real-world failure we discovered in the baseline dataset. When querying 'heart failure clinical trial', standard TF-IDF placed a consumer technology article about a legal trial at Rank 1, because the single word 'trial' appeared densely. A genuine medical cardiology paper matching all four terms was pushed down. This motivated our research into Coverage-Aware scaling and multi-model ranking.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formalized six concrete, measurable project objectives covering data structures, algorithm design, semantic analysis, explainability, and full-stack usability. Every single objective listed here has been implemented, validated through automated regression tests, and deployed into the running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literature survey spans the foundational pillars of Information Retrieval: Salton and Buckley's Vector Space Model, Robertson's Okapi BM25, Deerwester's Latent Semantic Analysis, and Morrison's PATRICIA Radix Trie. All citations have verified DOIs and venues. Notice how our architecture integrates the strengths of each model while addressing their documented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explicitly define our novelty in narrow, scientifically defensible terms. We do not claim to have invented BM25 or SVD. Our contribution is the architectural integration, the Coverage-Aware TF-IDF formulation that eliminates partial-match inflation, and the zero-dependency dual-engine runtime in pure Java with explainable diagnostics.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end-to-end layered architecture. Notice Tier 1: offline document deduplication and SVD modeling. Tier 2: in-memory Radix Trie, inverted index, and dense LSA vectors loaded into JVM heap in just 10 seconds. Tier 3: a zero-dependency Java HTTP server serving REST APIs. Tier 4: a responsive modern frontend offering instant autocomplete, explainable results, and research tools.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examine our two primary retrieval data structures. The Compressed Trie collapses non-branching character paths into substring edges. Its prefix search complexity is O(L), taking less than half a millisecond. The Inverted Index maps 64,380 unique terms to posting lists, processing 3.15 million tokens in just 2.1 seconds on 132 MB of heap.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mathematical formulations. Notice the middle column: Coverage-Aware TF-IDF. By applying the exponent factor of (m/k)^1.5, a document covering all 4 terms retains 100% of its score, whereas a document matching only 1 of 4 terms receives an 87.5% penalty. This completely fixes the single-term dominance defect while maintaining computational efficiency.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128-dimensional Latent Semantic Analysis engine. By projecting the document collection into a low-rank concept space via Truncated SVD, the engine discovers semantic associations. Notice on the right the actual screenshot of our running application: querying 'cardiac surgery' brings up cardiovascular medicine documents with similarity scores, active latent topics, and transparent explainability.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dataset was scaled to exactly 50,000 documents across 11 diverse topical domains, from news governance to clinical medicine and AI. Every single document has a verified academic or open-access license. We applied SHA-256 cryptographic deduplication, rejecting over 1,850 duplicate items during staging to ensure corpus integrity.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genuine screenshots captured from the running application on port 8080. On the left, the main dashboard shows live counters reflecting the 50,000 documents and 64,380 terms in the inverted index. On the right, as the user types 'crick', the Compressed Trie instantly displays vocabulary suggestions in sub-millisecond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shows our evaluation tools. On the left, the Three-Way Ranking Comparison Lab executes all three algorithms simultaneously on the same query. Notice how Baseline TF-IDF falls victim to rare-word repetition while Coverage-Aware and BM25 rank the genuine medical trial at Rank 1. On the right is the Research Workspace, allowing students and scholars to bookmark articles, organize them into collections, and write notes.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measured empirical results. On the left, the bar chart shows a clear progression: Baseline TF-IDF at 68% P@5, Coverage-Aware jumping to 88%, and BM25 reaching 90-92%. On the right, we strictly distinguish backend algorithm computation from browser network round-trip time, confirming that our backend algorithms execute in 25 to 300 milliseconds while the Radix Trie resolves in 0.12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project achieves an integrated, verified Information Retrieval platform that eliminates single-term TF-IDF anomalies, provides sub-millisecond Radix Trie autocomplete, and delivers genuine 128-D semantic retrieval with full diagnostic transparency. We thank our guide Dr. Ardra P S and 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solidFill>
              <a:srgbClr val="0A11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2011680"/>
          </a:xfrm>
          <a:prstGeom prst="rect">
            <a:avLst/>
          </a:prstGeom>
          <a:noFill/>
        </p:spPr>
        <p:txBody>
          <a:bodyPr wrap="square">
            <a:spAutoFit/>
          </a:bodyPr>
          <a:lstStyle/>
          <a:p>
            <a:pPr>
              <a:defRPr sz="1100" b="1">
                <a:solidFill>
                  <a:srgbClr val="06B6D4"/>
                </a:solidFill>
                <a:latin typeface="Segoe UI"/>
              </a:defRPr>
            </a:pPr>
            <a:r>
              <a:t>AMRITA VISHWA VIDYAPEETHAM · DEPARTMENT OF ARTIFICIAL INTELLIGENCE</a:t>
            </a:r>
          </a:p>
          <a:p>
            <a:pPr>
              <a:defRPr sz="3200" b="1">
                <a:solidFill>
                  <a:srgbClr val="FFFFFF"/>
                </a:solidFill>
                <a:latin typeface="Segoe UI"/>
              </a:defRPr>
            </a:pPr>
            <a:r>
              <a:t>Intelligent Search Engine using</a:t>
            </a:r>
            <a:br/>
            <a:r>
              <a:t>Compressed Trie and Inverted Index</a:t>
            </a:r>
          </a:p>
          <a:p>
            <a:pPr>
              <a:defRPr sz="1400">
                <a:solidFill>
                  <a:srgbClr val="A78BFA"/>
                </a:solidFill>
                <a:latin typeface="Segoe UI"/>
              </a:defRPr>
            </a:pPr>
            <a:r>
              <a:t>Multi-Domain Retrieval · Coverage-Aware TF-IDF · Okapi BM25 · 128-D LSA Semantic Search</a:t>
            </a:r>
          </a:p>
        </p:txBody>
      </p:sp>
      <p:sp>
        <p:nvSpPr>
          <p:cNvPr id="4" name="Rounded Rectangle 3"/>
          <p:cNvSpPr/>
          <p:nvPr/>
        </p:nvSpPr>
        <p:spPr>
          <a:xfrm>
            <a:off x="914400" y="3017520"/>
            <a:ext cx="6583680" cy="3108960"/>
          </a:xfrm>
          <a:prstGeom prst="roundRect">
            <a:avLst/>
          </a:prstGeom>
          <a:solidFill>
            <a:srgbClr val="182140"/>
          </a:solidFill>
          <a:ln w="15240">
            <a:solidFill>
              <a:srgbClr val="2D3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200400"/>
            <a:ext cx="6035040" cy="2743200"/>
          </a:xfrm>
          <a:prstGeom prst="rect">
            <a:avLst/>
          </a:prstGeom>
          <a:noFill/>
        </p:spPr>
        <p:txBody>
          <a:bodyPr wrap="square">
            <a:spAutoFit/>
          </a:bodyPr>
          <a:lstStyle/>
          <a:p>
            <a:pPr>
              <a:defRPr sz="1200" b="1">
                <a:solidFill>
                  <a:srgbClr val="06B6D4"/>
                </a:solidFill>
                <a:latin typeface="Segoe UI"/>
              </a:defRPr>
            </a:pPr>
            <a:r>
              <a:t>PROJECT TEAM (B.Tech AIE 2022–2026)</a:t>
            </a:r>
          </a:p>
          <a:p>
            <a:pPr>
              <a:defRPr sz="1250">
                <a:solidFill>
                  <a:srgbClr val="E2E8F0"/>
                </a:solidFill>
                <a:latin typeface="Segoe UI"/>
              </a:defRPr>
            </a:pPr>
            <a:r>
              <a:t>•  P. Manvith Sharma  —  CB.AI.U4AID25141</a:t>
            </a:r>
          </a:p>
          <a:p>
            <a:pPr>
              <a:defRPr sz="1250">
                <a:solidFill>
                  <a:srgbClr val="E2E8F0"/>
                </a:solidFill>
                <a:latin typeface="Segoe UI"/>
              </a:defRPr>
            </a:pPr>
            <a:r>
              <a:t>•  K. Prasad  —  CB.AI.U4AID25142</a:t>
            </a:r>
          </a:p>
          <a:p>
            <a:pPr>
              <a:defRPr sz="1250">
                <a:solidFill>
                  <a:srgbClr val="E2E8F0"/>
                </a:solidFill>
                <a:latin typeface="Segoe UI"/>
              </a:defRPr>
            </a:pPr>
            <a:r>
              <a:t>•  B. Sai Prasanna  —  CB.AI.U4AID25163</a:t>
            </a:r>
          </a:p>
          <a:p>
            <a:pPr>
              <a:defRPr sz="1250">
                <a:solidFill>
                  <a:srgbClr val="E2E8F0"/>
                </a:solidFill>
                <a:latin typeface="Segoe UI"/>
              </a:defRPr>
            </a:pPr>
            <a:r>
              <a:t>•  A. Jhanavi  —  CB.AI.U4AID25107</a:t>
            </a:r>
          </a:p>
        </p:txBody>
      </p:sp>
      <p:sp>
        <p:nvSpPr>
          <p:cNvPr id="6" name="Rounded Rectangle 5"/>
          <p:cNvSpPr/>
          <p:nvPr/>
        </p:nvSpPr>
        <p:spPr>
          <a:xfrm>
            <a:off x="7772400" y="3017520"/>
            <a:ext cx="3504895" cy="3108960"/>
          </a:xfrm>
          <a:prstGeom prst="roundRect">
            <a:avLst/>
          </a:prstGeom>
          <a:solidFill>
            <a:srgbClr val="182140"/>
          </a:solidFill>
          <a:ln w="15240">
            <a:solidFill>
              <a:srgbClr val="2D3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3200400"/>
            <a:ext cx="2926080" cy="2743200"/>
          </a:xfrm>
          <a:prstGeom prst="rect">
            <a:avLst/>
          </a:prstGeom>
          <a:noFill/>
        </p:spPr>
        <p:txBody>
          <a:bodyPr wrap="square">
            <a:spAutoFit/>
          </a:bodyPr>
          <a:lstStyle/>
          <a:p>
            <a:pPr>
              <a:defRPr sz="1200" b="1">
                <a:solidFill>
                  <a:srgbClr val="06B6D4"/>
                </a:solidFill>
                <a:latin typeface="Segoe UI"/>
              </a:defRPr>
            </a:pPr>
            <a:r>
              <a:t>FACULTY GUIDE</a:t>
            </a:r>
          </a:p>
          <a:p>
            <a:pPr>
              <a:defRPr sz="1600" b="1">
                <a:solidFill>
                  <a:srgbClr val="FFFFFF"/>
                </a:solidFill>
                <a:latin typeface="Segoe UI"/>
              </a:defRPr>
            </a:pPr>
            <a:r>
              <a:t>Dr. Ardra P S</a:t>
            </a:r>
          </a:p>
          <a:p>
            <a:pPr>
              <a:defRPr sz="1100">
                <a:solidFill>
                  <a:srgbClr val="E2E8F0"/>
                </a:solidFill>
                <a:latin typeface="Segoe UI"/>
              </a:defRPr>
            </a:pPr>
            <a:r>
              <a:t>Department of Artificial Intelligence</a:t>
            </a:r>
            <a:br/>
            <a:r>
              <a:t>Amrita School of Computing</a:t>
            </a:r>
          </a:p>
          <a:p>
            <a:br/>
            <a:pPr>
              <a:defRPr sz="1100" b="1">
                <a:solidFill>
                  <a:srgbClr val="06B6D4"/>
                </a:solidFill>
                <a:latin typeface="Segoe UI"/>
              </a:defRPr>
            </a:pPr>
            <a:r>
              <a:t>FINAL REVIEW DATE</a:t>
            </a:r>
          </a:p>
          <a:p>
            <a:pPr>
              <a:defRPr sz="1300" b="1">
                <a:solidFill>
                  <a:srgbClr val="FFFFFF"/>
                </a:solidFill>
                <a:latin typeface="Segoe UI"/>
              </a:defRPr>
            </a:pPr>
            <a:r>
              <a:t>26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Abstract &amp; Executive Overview</a:t>
            </a:r>
          </a:p>
        </p:txBody>
      </p:sp>
      <p:sp>
        <p:nvSpPr>
          <p:cNvPr id="3" name="Rounded Rectangle 2"/>
          <p:cNvSpPr/>
          <p:nvPr/>
        </p:nvSpPr>
        <p:spPr>
          <a:xfrm>
            <a:off x="731520" y="1371600"/>
            <a:ext cx="342900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600200"/>
            <a:ext cx="2971800" cy="4389120"/>
          </a:xfrm>
          <a:prstGeom prst="rect">
            <a:avLst/>
          </a:prstGeom>
          <a:noFill/>
        </p:spPr>
        <p:txBody>
          <a:bodyPr wrap="square">
            <a:spAutoFit/>
          </a:bodyPr>
          <a:lstStyle/>
          <a:p>
            <a:pPr>
              <a:defRPr sz="1600" b="1">
                <a:solidFill>
                  <a:srgbClr val="7C3AED"/>
                </a:solidFill>
                <a:latin typeface="Segoe UI"/>
              </a:defRPr>
            </a:pPr>
            <a:r>
              <a:t>The Challenge</a:t>
            </a:r>
          </a:p>
          <a:p>
            <a:br/>
            <a:pPr>
              <a:defRPr sz="1200">
                <a:solidFill>
                  <a:srgbClr val="0F172A"/>
                </a:solidFill>
                <a:latin typeface="Segoe UI"/>
              </a:defRPr>
            </a:pPr>
            <a:r>
              <a:t>Standard keyword retrieval models suffer from partial-match query inflation: a short document repeating a single rare term can outrank documents matching all search terms. Furthermore, disjoint IR architectures lack real-time sub-millisecond prefix completion, semantic synonym handling, and explainable ranking diagnostics.</a:t>
            </a:r>
          </a:p>
        </p:txBody>
      </p:sp>
      <p:sp>
        <p:nvSpPr>
          <p:cNvPr id="5" name="Rounded Rectangle 4"/>
          <p:cNvSpPr/>
          <p:nvPr/>
        </p:nvSpPr>
        <p:spPr>
          <a:xfrm>
            <a:off x="4361688" y="1371600"/>
            <a:ext cx="342900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90288" y="1600200"/>
            <a:ext cx="2971800" cy="4389120"/>
          </a:xfrm>
          <a:prstGeom prst="rect">
            <a:avLst/>
          </a:prstGeom>
          <a:noFill/>
        </p:spPr>
        <p:txBody>
          <a:bodyPr wrap="square">
            <a:spAutoFit/>
          </a:bodyPr>
          <a:lstStyle/>
          <a:p>
            <a:pPr>
              <a:defRPr sz="1600" b="1">
                <a:solidFill>
                  <a:srgbClr val="2563EB"/>
                </a:solidFill>
                <a:latin typeface="Segoe UI"/>
              </a:defRPr>
            </a:pPr>
            <a:r>
              <a:t>Integrated Architecture</a:t>
            </a:r>
          </a:p>
          <a:p>
            <a:br/>
            <a:pPr>
              <a:defRPr sz="1200">
                <a:solidFill>
                  <a:srgbClr val="0F172A"/>
                </a:solidFill>
                <a:latin typeface="Segoe UI"/>
              </a:defRPr>
            </a:pPr>
            <a:r>
              <a:t>We engineer a unified, zero-dependency search engine integrating: (1) an edge-compressed Radix Trie for O(L) prefix autocomplete, (2) an Inverted Index with Coverage-Aware TF-IDF, (3) Okapi BM25 probabilistic ranking, and (4) a 128-dimensional LSA concept space precomputed via Truncated SVD across 50,000 documents.</a:t>
            </a:r>
          </a:p>
        </p:txBody>
      </p:sp>
      <p:sp>
        <p:nvSpPr>
          <p:cNvPr id="7" name="Rounded Rectangle 6"/>
          <p:cNvSpPr/>
          <p:nvPr/>
        </p:nvSpPr>
        <p:spPr>
          <a:xfrm>
            <a:off x="7991856" y="1371600"/>
            <a:ext cx="342900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0456" y="1600200"/>
            <a:ext cx="2971800" cy="4389120"/>
          </a:xfrm>
          <a:prstGeom prst="rect">
            <a:avLst/>
          </a:prstGeom>
          <a:noFill/>
        </p:spPr>
        <p:txBody>
          <a:bodyPr wrap="square">
            <a:spAutoFit/>
          </a:bodyPr>
          <a:lstStyle/>
          <a:p>
            <a:pPr>
              <a:defRPr sz="1600" b="1">
                <a:solidFill>
                  <a:srgbClr val="10B981"/>
                </a:solidFill>
                <a:latin typeface="Segoe UI"/>
              </a:defRPr>
            </a:pPr>
            <a:r>
              <a:t>Empirical Findings</a:t>
            </a:r>
          </a:p>
          <a:p>
            <a:br/>
            <a:pPr>
              <a:defRPr sz="1200">
                <a:solidFill>
                  <a:srgbClr val="0F172A"/>
                </a:solidFill>
                <a:latin typeface="Segoe UI"/>
              </a:defRPr>
            </a:pPr>
            <a:r>
              <a:t>Verified benchmarks demonstrate: Coverage-Aware TF-IDF elevates Mean Precision@5 from 68.0% to 88.0% and nDCG@5 from 0.7859 to 0.8936, resolving single-term anomalies. Autocomplete traversals remain sub-millisecond (0.067–0.513 ms), while total engine heap footprint is only 132 MB.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Motivation &amp; Problem Statement</a:t>
            </a:r>
          </a:p>
        </p:txBody>
      </p:sp>
      <p:sp>
        <p:nvSpPr>
          <p:cNvPr id="3" name="Rounded Rectangle 2"/>
          <p:cNvSpPr/>
          <p:nvPr/>
        </p:nvSpPr>
        <p:spPr>
          <a:xfrm>
            <a:off x="7315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600200"/>
            <a:ext cx="4754880" cy="4389120"/>
          </a:xfrm>
          <a:prstGeom prst="rect">
            <a:avLst/>
          </a:prstGeom>
          <a:noFill/>
        </p:spPr>
        <p:txBody>
          <a:bodyPr wrap="square">
            <a:spAutoFit/>
          </a:bodyPr>
          <a:lstStyle/>
          <a:p>
            <a:pPr>
              <a:defRPr sz="1600" b="1">
                <a:solidFill>
                  <a:srgbClr val="DC2626"/>
                </a:solidFill>
                <a:latin typeface="Segoe UI"/>
              </a:defRPr>
            </a:pPr>
            <a:r>
              <a:t>Core Information Retrieval Bottlenecks</a:t>
            </a:r>
          </a:p>
          <a:p>
            <a:br/>
            <a:pPr>
              <a:defRPr sz="1100">
                <a:solidFill>
                  <a:srgbClr val="0F172A"/>
                </a:solidFill>
                <a:latin typeface="Segoe UI"/>
              </a:defRPr>
            </a:pPr>
            <a:r>
              <a:t>1. The Single-Term Dominance Anomaly:</a:t>
            </a:r>
            <a:br/>
            <a:r>
              <a:t>In standard TF-IDF (Score = Sum(TF * IDF)), documents repeating a single rare query term obtain artificially inflated scores, outranking documents matching 100% of query keywords.</a:t>
            </a:r>
          </a:p>
          <a:p>
            <a:br/>
            <a:pPr>
              <a:defRPr sz="1100">
                <a:solidFill>
                  <a:srgbClr val="0F172A"/>
                </a:solidFill>
                <a:latin typeface="Segoe UI"/>
              </a:defRPr>
            </a:pPr>
            <a:r>
              <a:t>2. Disjoint Search Pipelines:</a:t>
            </a:r>
            <a:br/>
            <a:r>
              <a:t>Traditional search architectures separate prefix autocomplete, keyword indexing, and semantic vectors into fragmented external microservices, creating high latency and operational complexity.</a:t>
            </a:r>
          </a:p>
          <a:p>
            <a:br/>
            <a:pPr>
              <a:defRPr sz="1100">
                <a:solidFill>
                  <a:srgbClr val="0F172A"/>
                </a:solidFill>
                <a:latin typeface="Segoe UI"/>
              </a:defRPr>
            </a:pPr>
            <a:r>
              <a:t>3. Synonymy and Vocabulary Mismatch:</a:t>
            </a:r>
            <a:br/>
            <a:r>
              <a:t>Keyword inverted indexes fail completely when users query synonymous terms (e.g., 'cardiac surgery' vs 'myocardial infarction' or 'heart disease').</a:t>
            </a:r>
          </a:p>
          <a:p>
            <a:br/>
            <a:pPr>
              <a:defRPr sz="1100">
                <a:solidFill>
                  <a:srgbClr val="0F172A"/>
                </a:solidFill>
                <a:latin typeface="Segoe UI"/>
              </a:defRPr>
            </a:pPr>
            <a:r>
              <a:t>4. The 'Black-Box' Ranking Problem:</a:t>
            </a:r>
            <a:br/>
            <a:r>
              <a:t>Modern search engines return ranked links with zero mathematical justification for why document A outranked document B.</a:t>
            </a:r>
          </a:p>
        </p:txBody>
      </p:sp>
      <p:sp>
        <p:nvSpPr>
          <p:cNvPr id="5" name="Rounded Rectangle 4"/>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1600200"/>
            <a:ext cx="4754880" cy="4389120"/>
          </a:xfrm>
          <a:prstGeom prst="rect">
            <a:avLst/>
          </a:prstGeom>
          <a:noFill/>
        </p:spPr>
        <p:txBody>
          <a:bodyPr wrap="square">
            <a:spAutoFit/>
          </a:bodyPr>
          <a:lstStyle/>
          <a:p>
            <a:pPr>
              <a:defRPr sz="1600" b="1">
                <a:solidFill>
                  <a:srgbClr val="7C3AED"/>
                </a:solidFill>
                <a:latin typeface="Segoe UI"/>
              </a:defRPr>
            </a:pPr>
            <a:r>
              <a:t>Concrete Empirical Evidence: The Baseline Failure</a:t>
            </a:r>
          </a:p>
          <a:p>
            <a:br/>
            <a:pPr>
              <a:defRPr sz="1200" b="1">
                <a:solidFill>
                  <a:srgbClr val="0F172A"/>
                </a:solidFill>
                <a:latin typeface="Segoe UI"/>
              </a:defRPr>
            </a:pPr>
            <a:r>
              <a:t>Query Tested: "heart failure clinical trial" (4 valid terms)</a:t>
            </a:r>
          </a:p>
          <a:p>
            <a:pPr>
              <a:defRPr sz="1100">
                <a:solidFill>
                  <a:srgbClr val="0F172A"/>
                </a:solidFill>
                <a:latin typeface="Segoe UI"/>
              </a:defRPr>
            </a:pPr>
            <a:r>
              <a:t>• Baseline TF-IDF Rank #1: ext_tech_0248</a:t>
            </a:r>
            <a:br/>
            <a:r>
              <a:t>  - Matches: 1 of 4 terms ('trial' repeated multiple times)</a:t>
            </a:r>
            <a:br/>
            <a:r>
              <a:t>  - Topic: Consumer electronics legal dispute</a:t>
            </a:r>
            <a:br/>
            <a:r>
              <a:t>  - Result: Irrelevant false positive ranked at top position!</a:t>
            </a:r>
            <a:br/>
            <a:br/>
            <a:r>
              <a:t>• Actual Medical Trial Article: health_0084</a:t>
            </a:r>
            <a:br/>
            <a:r>
              <a:t>  - Matches: 4 of 4 terms ('heart', 'failure', 'clinical', 'trial')</a:t>
            </a:r>
            <a:br/>
            <a:r>
              <a:t>  - Topic: Comprehensive Cardiology Phase-III Study</a:t>
            </a:r>
            <a:br/>
            <a:r>
              <a:t>  - Demoted under baseline TF-IDF due to length normalization lack!</a:t>
            </a:r>
            <a:br/>
            <a:br/>
            <a:r>
              <a:t>• Goal of this Project:</a:t>
            </a:r>
            <a:br/>
            <a:r>
              <a:t>  Eliminate this fundamental IR defect through rigorous Coverage-Aware penalty scaling, Okapi BM25 saturation, and 128-D LSA semantic concept projection.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Project Objectives</a:t>
            </a:r>
          </a:p>
        </p:txBody>
      </p:sp>
      <p:sp>
        <p:nvSpPr>
          <p:cNvPr id="3" name="Rounded Rectangle 2"/>
          <p:cNvSpPr/>
          <p:nvPr/>
        </p:nvSpPr>
        <p:spPr>
          <a:xfrm>
            <a:off x="731520" y="1371600"/>
            <a:ext cx="5257800" cy="15087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4892040" cy="1234440"/>
          </a:xfrm>
          <a:prstGeom prst="rect">
            <a:avLst/>
          </a:prstGeom>
          <a:noFill/>
        </p:spPr>
        <p:txBody>
          <a:bodyPr wrap="square">
            <a:spAutoFit/>
          </a:bodyPr>
          <a:lstStyle/>
          <a:p>
            <a:pPr>
              <a:defRPr sz="1300" b="1">
                <a:solidFill>
                  <a:srgbClr val="7C3AED"/>
                </a:solidFill>
                <a:latin typeface="Segoe UI"/>
              </a:defRPr>
            </a:pPr>
            <a:r>
              <a:t>1. O(L) Radix Trie Autocomplete</a:t>
            </a:r>
          </a:p>
          <a:p>
            <a:pPr>
              <a:defRPr sz="1050">
                <a:solidFill>
                  <a:srgbClr val="0F172A"/>
                </a:solidFill>
                <a:latin typeface="Segoe UI"/>
              </a:defRPr>
            </a:pPr>
            <a:r>
              <a:t>Design and construct an in-memory Compressed Trie that collapses non-branching character paths into edge substrings, achieving sub-millisecond prefix suggestion lookup independent of corpus volume N.</a:t>
            </a:r>
          </a:p>
        </p:txBody>
      </p:sp>
      <p:sp>
        <p:nvSpPr>
          <p:cNvPr id="5" name="Rounded Rectangle 4"/>
          <p:cNvSpPr/>
          <p:nvPr/>
        </p:nvSpPr>
        <p:spPr>
          <a:xfrm>
            <a:off x="6172200" y="1371600"/>
            <a:ext cx="5257800" cy="15087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5080" y="1508760"/>
            <a:ext cx="4892040" cy="1234440"/>
          </a:xfrm>
          <a:prstGeom prst="rect">
            <a:avLst/>
          </a:prstGeom>
          <a:noFill/>
        </p:spPr>
        <p:txBody>
          <a:bodyPr wrap="square">
            <a:spAutoFit/>
          </a:bodyPr>
          <a:lstStyle/>
          <a:p>
            <a:pPr>
              <a:defRPr sz="1300" b="1">
                <a:solidFill>
                  <a:srgbClr val="7C3AED"/>
                </a:solidFill>
                <a:latin typeface="Segoe UI"/>
              </a:defRPr>
            </a:pPr>
            <a:r>
              <a:t>2. Coverage-Aware TF-IDF Engine</a:t>
            </a:r>
          </a:p>
          <a:p>
            <a:pPr>
              <a:defRPr sz="1050">
                <a:solidFill>
                  <a:srgbClr val="0F172A"/>
                </a:solidFill>
                <a:latin typeface="Segoe UI"/>
              </a:defRPr>
            </a:pPr>
            <a:r>
              <a:t>Develop a non-linear term coverage penalty function that scales raw TF-IDF scores by (matched/valid)^1.5, penalizing single-term spurious matches and rewarding multi-term semantic completeness.</a:t>
            </a:r>
          </a:p>
        </p:txBody>
      </p:sp>
      <p:sp>
        <p:nvSpPr>
          <p:cNvPr id="7" name="Rounded Rectangle 6"/>
          <p:cNvSpPr/>
          <p:nvPr/>
        </p:nvSpPr>
        <p:spPr>
          <a:xfrm>
            <a:off x="731520" y="3017520"/>
            <a:ext cx="5257800" cy="15087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154680"/>
            <a:ext cx="4892040" cy="1234440"/>
          </a:xfrm>
          <a:prstGeom prst="rect">
            <a:avLst/>
          </a:prstGeom>
          <a:noFill/>
        </p:spPr>
        <p:txBody>
          <a:bodyPr wrap="square">
            <a:spAutoFit/>
          </a:bodyPr>
          <a:lstStyle/>
          <a:p>
            <a:pPr>
              <a:defRPr sz="1300" b="1">
                <a:solidFill>
                  <a:srgbClr val="7C3AED"/>
                </a:solidFill>
                <a:latin typeface="Segoe UI"/>
              </a:defRPr>
            </a:pPr>
            <a:r>
              <a:t>3. Probabilistic BM25 &amp; Ranking Lab</a:t>
            </a:r>
          </a:p>
          <a:p>
            <a:pPr>
              <a:defRPr sz="1050">
                <a:solidFill>
                  <a:srgbClr val="0F172A"/>
                </a:solidFill>
                <a:latin typeface="Segoe UI"/>
              </a:defRPr>
            </a:pPr>
            <a:r>
              <a:t>Implement the Okapi BM25 probabilistic model with term saturation (k1=1.2) and document length normalization (b=0.75), alongside an interactive Three-Way Comparison Lab.</a:t>
            </a:r>
          </a:p>
        </p:txBody>
      </p:sp>
      <p:sp>
        <p:nvSpPr>
          <p:cNvPr id="9" name="Rounded Rectangle 8"/>
          <p:cNvSpPr/>
          <p:nvPr/>
        </p:nvSpPr>
        <p:spPr>
          <a:xfrm>
            <a:off x="6172200" y="3017520"/>
            <a:ext cx="5257800" cy="15087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154680"/>
            <a:ext cx="4892040" cy="1234440"/>
          </a:xfrm>
          <a:prstGeom prst="rect">
            <a:avLst/>
          </a:prstGeom>
          <a:noFill/>
        </p:spPr>
        <p:txBody>
          <a:bodyPr wrap="square">
            <a:spAutoFit/>
          </a:bodyPr>
          <a:lstStyle/>
          <a:p>
            <a:pPr>
              <a:defRPr sz="1300" b="1">
                <a:solidFill>
                  <a:srgbClr val="7C3AED"/>
                </a:solidFill>
                <a:latin typeface="Segoe UI"/>
              </a:defRPr>
            </a:pPr>
            <a:r>
              <a:t>4. 128-D LSA Semantic Search</a:t>
            </a:r>
          </a:p>
          <a:p>
            <a:pPr>
              <a:defRPr sz="1050">
                <a:solidFill>
                  <a:srgbClr val="0F172A"/>
                </a:solidFill>
                <a:latin typeface="Segoe UI"/>
              </a:defRPr>
            </a:pPr>
            <a:r>
              <a:t>Integrate a dense 128-dimensional concept vector space via Truncated Singular Value Decomposition (SVD), enabling genuine meaning-based retrieval across synonymous vocabulary.</a:t>
            </a:r>
          </a:p>
        </p:txBody>
      </p:sp>
      <p:sp>
        <p:nvSpPr>
          <p:cNvPr id="11" name="Rounded Rectangle 10"/>
          <p:cNvSpPr/>
          <p:nvPr/>
        </p:nvSpPr>
        <p:spPr>
          <a:xfrm>
            <a:off x="731520" y="4663440"/>
            <a:ext cx="5257800" cy="15087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800600"/>
            <a:ext cx="4892040" cy="1234440"/>
          </a:xfrm>
          <a:prstGeom prst="rect">
            <a:avLst/>
          </a:prstGeom>
          <a:noFill/>
        </p:spPr>
        <p:txBody>
          <a:bodyPr wrap="square">
            <a:spAutoFit/>
          </a:bodyPr>
          <a:lstStyle/>
          <a:p>
            <a:pPr>
              <a:defRPr sz="1300" b="1">
                <a:solidFill>
                  <a:srgbClr val="7C3AED"/>
                </a:solidFill>
                <a:latin typeface="Segoe UI"/>
              </a:defRPr>
            </a:pPr>
            <a:r>
              <a:t>5. Explainable Ranking Diagnostics</a:t>
            </a:r>
          </a:p>
          <a:p>
            <a:pPr>
              <a:defRPr sz="1050">
                <a:solidFill>
                  <a:srgbClr val="0F172A"/>
                </a:solidFill>
                <a:latin typeface="Segoe UI"/>
              </a:defRPr>
            </a:pPr>
            <a:r>
              <a:t>Decompose and display scoring factors (term coverage %, matched term pills, BM25 saturation, active latent topics) to provide transparent user interpretability.</a:t>
            </a:r>
          </a:p>
        </p:txBody>
      </p:sp>
      <p:sp>
        <p:nvSpPr>
          <p:cNvPr id="13" name="Rounded Rectangle 12"/>
          <p:cNvSpPr/>
          <p:nvPr/>
        </p:nvSpPr>
        <p:spPr>
          <a:xfrm>
            <a:off x="6172200" y="4663440"/>
            <a:ext cx="5257800" cy="15087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4800600"/>
            <a:ext cx="4892040" cy="1234440"/>
          </a:xfrm>
          <a:prstGeom prst="rect">
            <a:avLst/>
          </a:prstGeom>
          <a:noFill/>
        </p:spPr>
        <p:txBody>
          <a:bodyPr wrap="square">
            <a:spAutoFit/>
          </a:bodyPr>
          <a:lstStyle/>
          <a:p>
            <a:pPr>
              <a:defRPr sz="1300" b="1">
                <a:solidFill>
                  <a:srgbClr val="7C3AED"/>
                </a:solidFill>
                <a:latin typeface="Segoe UI"/>
              </a:defRPr>
            </a:pPr>
            <a:r>
              <a:t>6. Research Workspace &amp; Telemetry</a:t>
            </a:r>
          </a:p>
          <a:p>
            <a:pPr>
              <a:defRPr sz="1050">
                <a:solidFill>
                  <a:srgbClr val="0F172A"/>
                </a:solidFill>
                <a:latin typeface="Segoe UI"/>
              </a:defRPr>
            </a:pPr>
            <a:r>
              <a:t>Provide persistent user research tools (bookmarks, hierarchical collections, personal notes, saved queries) with live telemetry and Google Comparison Lab evaluation.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Literature Survey &amp; Comparative Analysis</a:t>
            </a:r>
          </a:p>
        </p:txBody>
      </p:sp>
      <p:graphicFrame>
        <p:nvGraphicFramePr>
          <p:cNvPr id="3" name="Table 2"/>
          <p:cNvGraphicFramePr>
            <a:graphicFrameLocks noGrp="1"/>
          </p:cNvGraphicFramePr>
          <p:nvPr/>
        </p:nvGraphicFramePr>
        <p:xfrm>
          <a:off x="731520" y="1280160"/>
          <a:ext cx="10728655" cy="5029200"/>
        </p:xfrm>
        <a:graphic>
          <a:graphicData uri="http://schemas.openxmlformats.org/drawingml/2006/table">
            <a:tbl>
              <a:tblPr firstRow="1" bandRow="1">
                <a:tableStyleId>{5C22544A-7EE6-4342-B048-85BDC9FD1C3A}</a:tableStyleId>
              </a:tblPr>
              <a:tblGrid>
                <a:gridCol w="2011680"/>
                <a:gridCol w="2011680"/>
                <a:gridCol w="2194560"/>
                <a:gridCol w="2286000"/>
                <a:gridCol w="2224735"/>
              </a:tblGrid>
              <a:tr h="838200">
                <a:tc>
                  <a:txBody>
                    <a:bodyPr/>
                    <a:lstStyle/>
                    <a:p>
                      <a:pPr>
                        <a:defRPr sz="1050" b="1">
                          <a:solidFill>
                            <a:srgbClr val="FFFFFF"/>
                          </a:solidFill>
                          <a:latin typeface="Segoe UI"/>
                        </a:defRPr>
                      </a:pPr>
                      <a:r>
                        <a:t>Author &amp; Reference</a:t>
                      </a:r>
                    </a:p>
                  </a:txBody>
                  <a:tcPr>
                    <a:solidFill>
                      <a:srgbClr val="0F172A"/>
                    </a:solidFill>
                  </a:tcPr>
                </a:tc>
                <a:tc>
                  <a:txBody>
                    <a:bodyPr/>
                    <a:lstStyle/>
                    <a:p>
                      <a:pPr>
                        <a:defRPr sz="1050" b="1">
                          <a:solidFill>
                            <a:srgbClr val="FFFFFF"/>
                          </a:solidFill>
                          <a:latin typeface="Segoe UI"/>
                        </a:defRPr>
                      </a:pPr>
                      <a:r>
                        <a:t>Core Methodology</a:t>
                      </a:r>
                    </a:p>
                  </a:txBody>
                  <a:tcPr>
                    <a:solidFill>
                      <a:srgbClr val="0F172A"/>
                    </a:solidFill>
                  </a:tcPr>
                </a:tc>
                <a:tc>
                  <a:txBody>
                    <a:bodyPr/>
                    <a:lstStyle/>
                    <a:p>
                      <a:pPr>
                        <a:defRPr sz="1050" b="1">
                          <a:solidFill>
                            <a:srgbClr val="FFFFFF"/>
                          </a:solidFill>
                          <a:latin typeface="Segoe UI"/>
                        </a:defRPr>
                      </a:pPr>
                      <a:r>
                        <a:t>Demonstrated Strengths</a:t>
                      </a:r>
                    </a:p>
                  </a:txBody>
                  <a:tcPr>
                    <a:solidFill>
                      <a:srgbClr val="0F172A"/>
                    </a:solidFill>
                  </a:tcPr>
                </a:tc>
                <a:tc>
                  <a:txBody>
                    <a:bodyPr/>
                    <a:lstStyle/>
                    <a:p>
                      <a:pPr>
                        <a:defRPr sz="1050" b="1">
                          <a:solidFill>
                            <a:srgbClr val="FFFFFF"/>
                          </a:solidFill>
                          <a:latin typeface="Segoe UI"/>
                        </a:defRPr>
                      </a:pPr>
                      <a:r>
                        <a:t>Known Limitations</a:t>
                      </a:r>
                    </a:p>
                  </a:txBody>
                  <a:tcPr>
                    <a:solidFill>
                      <a:srgbClr val="0F172A"/>
                    </a:solidFill>
                  </a:tcPr>
                </a:tc>
                <a:tc>
                  <a:txBody>
                    <a:bodyPr/>
                    <a:lstStyle/>
                    <a:p>
                      <a:pPr>
                        <a:defRPr sz="1050" b="1">
                          <a:solidFill>
                            <a:srgbClr val="FFFFFF"/>
                          </a:solidFill>
                          <a:latin typeface="Segoe UI"/>
                        </a:defRPr>
                      </a:pPr>
                      <a:r>
                        <a:t>Relevance to this Work</a:t>
                      </a:r>
                    </a:p>
                  </a:txBody>
                  <a:tcPr>
                    <a:solidFill>
                      <a:srgbClr val="0F172A"/>
                    </a:solidFill>
                  </a:tcPr>
                </a:tc>
              </a:tr>
              <a:tr h="838200">
                <a:tc>
                  <a:txBody>
                    <a:bodyPr/>
                    <a:lstStyle/>
                    <a:p>
                      <a:pPr>
                        <a:defRPr sz="950">
                          <a:solidFill>
                            <a:srgbClr val="0F172A"/>
                          </a:solidFill>
                          <a:latin typeface="Segoe UI"/>
                        </a:defRPr>
                      </a:pPr>
                      <a:r>
                        <a:t>Salton &amp; Buckley (1988)</a:t>
                      </a:r>
                      <a:br/>
                      <a:r>
                        <a:t>Inf. Process. &amp; Manage.</a:t>
                      </a:r>
                      <a:br/>
                      <a:r>
                        <a:t>DOI: 10.1016/0306-4573(88)90021-0</a:t>
                      </a:r>
                    </a:p>
                  </a:txBody>
                  <a:tcPr>
                    <a:solidFill>
                      <a:srgbClr val="F8FAFC"/>
                    </a:solidFill>
                  </a:tcPr>
                </a:tc>
                <a:tc>
                  <a:txBody>
                    <a:bodyPr/>
                    <a:lstStyle/>
                    <a:p>
                      <a:pPr>
                        <a:defRPr sz="950">
                          <a:solidFill>
                            <a:srgbClr val="0F172A"/>
                          </a:solidFill>
                          <a:latin typeface="Segoe UI"/>
                        </a:defRPr>
                      </a:pPr>
                      <a:r>
                        <a:t>Vector Space Model with TF-IDF term weighting.</a:t>
                      </a:r>
                    </a:p>
                  </a:txBody>
                  <a:tcPr>
                    <a:solidFill>
                      <a:srgbClr val="F8FAFC"/>
                    </a:solidFill>
                  </a:tcPr>
                </a:tc>
                <a:tc>
                  <a:txBody>
                    <a:bodyPr/>
                    <a:lstStyle/>
                    <a:p>
                      <a:pPr>
                        <a:defRPr sz="950">
                          <a:solidFill>
                            <a:srgbClr val="0F172A"/>
                          </a:solidFill>
                          <a:latin typeface="Segoe UI"/>
                        </a:defRPr>
                      </a:pPr>
                      <a:r>
                        <a:t>Efficient postings intersection; term discrimination via inverse document frequency.</a:t>
                      </a:r>
                    </a:p>
                  </a:txBody>
                  <a:tcPr>
                    <a:solidFill>
                      <a:srgbClr val="F8FAFC"/>
                    </a:solidFill>
                  </a:tcPr>
                </a:tc>
                <a:tc>
                  <a:txBody>
                    <a:bodyPr/>
                    <a:lstStyle/>
                    <a:p>
                      <a:pPr>
                        <a:defRPr sz="950">
                          <a:solidFill>
                            <a:srgbClr val="0F172A"/>
                          </a:solidFill>
                          <a:latin typeface="Segoe UI"/>
                        </a:defRPr>
                      </a:pPr>
                      <a:r>
                        <a:t>Vulnerable to length distortion and single-term dominance without coverage awareness.</a:t>
                      </a:r>
                    </a:p>
                  </a:txBody>
                  <a:tcPr>
                    <a:solidFill>
                      <a:srgbClr val="F8FAFC"/>
                    </a:solidFill>
                  </a:tcPr>
                </a:tc>
                <a:tc>
                  <a:txBody>
                    <a:bodyPr/>
                    <a:lstStyle/>
                    <a:p>
                      <a:pPr>
                        <a:defRPr sz="950">
                          <a:solidFill>
                            <a:srgbClr val="0F172A"/>
                          </a:solidFill>
                          <a:latin typeface="Segoe UI"/>
                        </a:defRPr>
                      </a:pPr>
                      <a:r>
                        <a:t>Forms the baseline ranking algorithm; modified with our coverage exponent penalty.</a:t>
                      </a:r>
                    </a:p>
                  </a:txBody>
                  <a:tcPr>
                    <a:solidFill>
                      <a:srgbClr val="F8FAFC"/>
                    </a:solidFill>
                  </a:tcPr>
                </a:tc>
              </a:tr>
              <a:tr h="838200">
                <a:tc>
                  <a:txBody>
                    <a:bodyPr/>
                    <a:lstStyle/>
                    <a:p>
                      <a:pPr>
                        <a:defRPr sz="950">
                          <a:solidFill>
                            <a:srgbClr val="0F172A"/>
                          </a:solidFill>
                          <a:latin typeface="Segoe UI"/>
                        </a:defRPr>
                      </a:pPr>
                      <a:r>
                        <a:t>Robertson et al. (1994 / 2009)</a:t>
                      </a:r>
                      <a:br/>
                      <a:r>
                        <a:t>TREC-3 / FnTIR</a:t>
                      </a:r>
                      <a:br/>
                      <a:r>
                        <a:t>DOI: 10.1561/1500000019</a:t>
                      </a:r>
                    </a:p>
                  </a:txBody>
                  <a:tcPr>
                    <a:solidFill>
                      <a:srgbClr val="FFFFFF"/>
                    </a:solidFill>
                  </a:tcPr>
                </a:tc>
                <a:tc>
                  <a:txBody>
                    <a:bodyPr/>
                    <a:lstStyle/>
                    <a:p>
                      <a:pPr>
                        <a:defRPr sz="950">
                          <a:solidFill>
                            <a:srgbClr val="0F172A"/>
                          </a:solidFill>
                          <a:latin typeface="Segoe UI"/>
                        </a:defRPr>
                      </a:pPr>
                      <a:r>
                        <a:t>Okapi BM25 probabilistic 2-Poisson relevance model.</a:t>
                      </a:r>
                    </a:p>
                  </a:txBody>
                  <a:tcPr>
                    <a:solidFill>
                      <a:srgbClr val="FFFFFF"/>
                    </a:solidFill>
                  </a:tcPr>
                </a:tc>
                <a:tc>
                  <a:txBody>
                    <a:bodyPr/>
                    <a:lstStyle/>
                    <a:p>
                      <a:pPr>
                        <a:defRPr sz="950">
                          <a:solidFill>
                            <a:srgbClr val="0F172A"/>
                          </a:solidFill>
                          <a:latin typeface="Segoe UI"/>
                        </a:defRPr>
                      </a:pPr>
                      <a:r>
                        <a:t>Term frequency saturation (k1=1.2) and document length normalization (b=0.75).</a:t>
                      </a:r>
                    </a:p>
                  </a:txBody>
                  <a:tcPr>
                    <a:solidFill>
                      <a:srgbClr val="FFFFFF"/>
                    </a:solidFill>
                  </a:tcPr>
                </a:tc>
                <a:tc>
                  <a:txBody>
                    <a:bodyPr/>
                    <a:lstStyle/>
                    <a:p>
                      <a:pPr>
                        <a:defRPr sz="950">
                          <a:solidFill>
                            <a:srgbClr val="0F172A"/>
                          </a:solidFill>
                          <a:latin typeface="Segoe UI"/>
                        </a:defRPr>
                      </a:pPr>
                      <a:r>
                        <a:t>Heuristic parameter tuning; ignores latent conceptual and synonymous relationships.</a:t>
                      </a:r>
                    </a:p>
                  </a:txBody>
                  <a:tcPr>
                    <a:solidFill>
                      <a:srgbClr val="FFFFFF"/>
                    </a:solidFill>
                  </a:tcPr>
                </a:tc>
                <a:tc>
                  <a:txBody>
                    <a:bodyPr/>
                    <a:lstStyle/>
                    <a:p>
                      <a:pPr>
                        <a:defRPr sz="950">
                          <a:solidFill>
                            <a:srgbClr val="0F172A"/>
                          </a:solidFill>
                          <a:latin typeface="Segoe UI"/>
                        </a:defRPr>
                      </a:pPr>
                      <a:r>
                        <a:t>Serves as the high-precision probabilistic benchmark in our 3-Way Comparison Lab.</a:t>
                      </a:r>
                    </a:p>
                  </a:txBody>
                  <a:tcPr>
                    <a:solidFill>
                      <a:srgbClr val="FFFFFF"/>
                    </a:solidFill>
                  </a:tcPr>
                </a:tc>
              </a:tr>
              <a:tr h="838200">
                <a:tc>
                  <a:txBody>
                    <a:bodyPr/>
                    <a:lstStyle/>
                    <a:p>
                      <a:pPr>
                        <a:defRPr sz="950">
                          <a:solidFill>
                            <a:srgbClr val="0F172A"/>
                          </a:solidFill>
                          <a:latin typeface="Segoe UI"/>
                        </a:defRPr>
                      </a:pPr>
                      <a:r>
                        <a:t>Deerwester et al. (1990)</a:t>
                      </a:r>
                      <a:br/>
                      <a:r>
                        <a:t>JASIS</a:t>
                      </a:r>
                      <a:br/>
                      <a:r>
                        <a:t>DOI: 10.1002/(SICI)1097-4571</a:t>
                      </a:r>
                    </a:p>
                  </a:txBody>
                  <a:tcPr>
                    <a:solidFill>
                      <a:srgbClr val="F8FAFC"/>
                    </a:solidFill>
                  </a:tcPr>
                </a:tc>
                <a:tc>
                  <a:txBody>
                    <a:bodyPr/>
                    <a:lstStyle/>
                    <a:p>
                      <a:pPr>
                        <a:defRPr sz="950">
                          <a:solidFill>
                            <a:srgbClr val="0F172A"/>
                          </a:solidFill>
                          <a:latin typeface="Segoe UI"/>
                        </a:defRPr>
                      </a:pPr>
                      <a:r>
                        <a:t>Latent Semantic Analysis via Truncated SVD.</a:t>
                      </a:r>
                    </a:p>
                  </a:txBody>
                  <a:tcPr>
                    <a:solidFill>
                      <a:srgbClr val="F8FAFC"/>
                    </a:solidFill>
                  </a:tcPr>
                </a:tc>
                <a:tc>
                  <a:txBody>
                    <a:bodyPr/>
                    <a:lstStyle/>
                    <a:p>
                      <a:pPr>
                        <a:defRPr sz="950">
                          <a:solidFill>
                            <a:srgbClr val="0F172A"/>
                          </a:solidFill>
                          <a:latin typeface="Segoe UI"/>
                        </a:defRPr>
                      </a:pPr>
                      <a:r>
                        <a:t>Uncovers latent concept associations; overcomes synonymy and polysemy.</a:t>
                      </a:r>
                    </a:p>
                  </a:txBody>
                  <a:tcPr>
                    <a:solidFill>
                      <a:srgbClr val="F8FAFC"/>
                    </a:solidFill>
                  </a:tcPr>
                </a:tc>
                <a:tc>
                  <a:txBody>
                    <a:bodyPr/>
                    <a:lstStyle/>
                    <a:p>
                      <a:pPr>
                        <a:defRPr sz="950">
                          <a:solidFill>
                            <a:srgbClr val="0F172A"/>
                          </a:solidFill>
                          <a:latin typeface="Segoe UI"/>
                        </a:defRPr>
                      </a:pPr>
                      <a:r>
                        <a:t>High SVD computation cost O(N·V·k); cannot serve real-time inverted lookups natively.</a:t>
                      </a:r>
                    </a:p>
                  </a:txBody>
                  <a:tcPr>
                    <a:solidFill>
                      <a:srgbClr val="F8FAFC"/>
                    </a:solidFill>
                  </a:tcPr>
                </a:tc>
                <a:tc>
                  <a:txBody>
                    <a:bodyPr/>
                    <a:lstStyle/>
                    <a:p>
                      <a:pPr>
                        <a:defRPr sz="950">
                          <a:solidFill>
                            <a:srgbClr val="0F172A"/>
                          </a:solidFill>
                          <a:latin typeface="Segoe UI"/>
                        </a:defRPr>
                      </a:pPr>
                      <a:r>
                        <a:t>Implemented as a 128-D dense concept space for semantic search and explainability.</a:t>
                      </a:r>
                    </a:p>
                  </a:txBody>
                  <a:tcPr>
                    <a:solidFill>
                      <a:srgbClr val="F8FAFC"/>
                    </a:solidFill>
                  </a:tcPr>
                </a:tc>
              </a:tr>
              <a:tr h="838200">
                <a:tc>
                  <a:txBody>
                    <a:bodyPr/>
                    <a:lstStyle/>
                    <a:p>
                      <a:pPr>
                        <a:defRPr sz="950">
                          <a:solidFill>
                            <a:srgbClr val="0F172A"/>
                          </a:solidFill>
                          <a:latin typeface="Segoe UI"/>
                        </a:defRPr>
                      </a:pPr>
                      <a:r>
                        <a:t>Fredkin (1960) / Morrison (1968)</a:t>
                      </a:r>
                      <a:br/>
                      <a:r>
                        <a:t>CACM / JACM</a:t>
                      </a:r>
                      <a:br/>
                      <a:r>
                        <a:t>DOI: 10.1145/321479.321481</a:t>
                      </a:r>
                    </a:p>
                  </a:txBody>
                  <a:tcPr>
                    <a:solidFill>
                      <a:srgbClr val="FFFFFF"/>
                    </a:solidFill>
                  </a:tcPr>
                </a:tc>
                <a:tc>
                  <a:txBody>
                    <a:bodyPr/>
                    <a:lstStyle/>
                    <a:p>
                      <a:pPr>
                        <a:defRPr sz="950">
                          <a:solidFill>
                            <a:srgbClr val="0F172A"/>
                          </a:solidFill>
                          <a:latin typeface="Segoe UI"/>
                        </a:defRPr>
                      </a:pPr>
                      <a:r>
                        <a:t>Standard Trie vs Radix Tree (Edge Compression).</a:t>
                      </a:r>
                    </a:p>
                  </a:txBody>
                  <a:tcPr>
                    <a:solidFill>
                      <a:srgbClr val="FFFFFF"/>
                    </a:solidFill>
                  </a:tcPr>
                </a:tc>
                <a:tc>
                  <a:txBody>
                    <a:bodyPr/>
                    <a:lstStyle/>
                    <a:p>
                      <a:pPr>
                        <a:defRPr sz="950">
                          <a:solidFill>
                            <a:srgbClr val="0F172A"/>
                          </a:solidFill>
                          <a:latin typeface="Segoe UI"/>
                        </a:defRPr>
                      </a:pPr>
                      <a:r>
                        <a:t>Radix Tree collapses single-child paths into edge substrings; O(L) prefix lookup.</a:t>
                      </a:r>
                    </a:p>
                  </a:txBody>
                  <a:tcPr>
                    <a:solidFill>
                      <a:srgbClr val="FFFFFF"/>
                    </a:solidFill>
                  </a:tcPr>
                </a:tc>
                <a:tc>
                  <a:txBody>
                    <a:bodyPr/>
                    <a:lstStyle/>
                    <a:p>
                      <a:pPr>
                        <a:defRPr sz="950">
                          <a:solidFill>
                            <a:srgbClr val="0F172A"/>
                          </a:solidFill>
                          <a:latin typeface="Segoe UI"/>
                        </a:defRPr>
                      </a:pPr>
                      <a:r>
                        <a:t>High pointer memory overhead in standard tries if edges are uncompressed.</a:t>
                      </a:r>
                    </a:p>
                  </a:txBody>
                  <a:tcPr>
                    <a:solidFill>
                      <a:srgbClr val="FFFFFF"/>
                    </a:solidFill>
                  </a:tcPr>
                </a:tc>
                <a:tc>
                  <a:txBody>
                    <a:bodyPr/>
                    <a:lstStyle/>
                    <a:p>
                      <a:pPr>
                        <a:defRPr sz="950">
                          <a:solidFill>
                            <a:srgbClr val="0F172A"/>
                          </a:solidFill>
                          <a:latin typeface="Segoe UI"/>
                        </a:defRPr>
                      </a:pPr>
                      <a:r>
                        <a:t>Engineered as our in-memory Compressed Trie for sub-millisecond autocomplete.</a:t>
                      </a:r>
                    </a:p>
                  </a:txBody>
                  <a:tcPr>
                    <a:solidFill>
                      <a:srgbClr val="FFFFFF"/>
                    </a:solidFill>
                  </a:tcPr>
                </a:tc>
              </a:tr>
              <a:tr h="838200">
                <a:tc>
                  <a:txBody>
                    <a:bodyPr/>
                    <a:lstStyle/>
                    <a:p>
                      <a:pPr>
                        <a:defRPr sz="950">
                          <a:solidFill>
                            <a:srgbClr val="0F172A"/>
                          </a:solidFill>
                          <a:latin typeface="Segoe UI"/>
                        </a:defRPr>
                      </a:pPr>
                      <a:r>
                        <a:t>Proposed Architecture</a:t>
                      </a:r>
                      <a:br/>
                      <a:r>
                        <a:t>(Sharma, Prasad, Prasanna,</a:t>
                      </a:r>
                      <a:br/>
                      <a:r>
                        <a:t>Jhanavi, 2026)</a:t>
                      </a:r>
                    </a:p>
                  </a:txBody>
                  <a:tcPr>
                    <a:solidFill>
                      <a:srgbClr val="F8FAFC"/>
                    </a:solidFill>
                  </a:tcPr>
                </a:tc>
                <a:tc>
                  <a:txBody>
                    <a:bodyPr/>
                    <a:lstStyle/>
                    <a:p>
                      <a:pPr>
                        <a:defRPr sz="950">
                          <a:solidFill>
                            <a:srgbClr val="0F172A"/>
                          </a:solidFill>
                          <a:latin typeface="Segoe UI"/>
                        </a:defRPr>
                      </a:pPr>
                      <a:r>
                        <a:t>Integrated Radix Trie + Inverted Index + Coverage-Aware TF-IDF + BM25 + 128-D LSA.</a:t>
                      </a:r>
                    </a:p>
                  </a:txBody>
                  <a:tcPr>
                    <a:solidFill>
                      <a:srgbClr val="F8FAFC"/>
                    </a:solidFill>
                  </a:tcPr>
                </a:tc>
                <a:tc>
                  <a:txBody>
                    <a:bodyPr/>
                    <a:lstStyle/>
                    <a:p>
                      <a:pPr>
                        <a:defRPr sz="950">
                          <a:solidFill>
                            <a:srgbClr val="0F172A"/>
                          </a:solidFill>
                          <a:latin typeface="Segoe UI"/>
                        </a:defRPr>
                      </a:pPr>
                      <a:r>
                        <a:t>Combines exact keyword precision, probabilistic robustness, and semantic synonymy with explainability.</a:t>
                      </a:r>
                    </a:p>
                  </a:txBody>
                  <a:tcPr>
                    <a:solidFill>
                      <a:srgbClr val="F8FAFC"/>
                    </a:solidFill>
                  </a:tcPr>
                </a:tc>
                <a:tc>
                  <a:txBody>
                    <a:bodyPr/>
                    <a:lstStyle/>
                    <a:p>
                      <a:pPr>
                        <a:defRPr sz="950">
                          <a:solidFill>
                            <a:srgbClr val="0F172A"/>
                          </a:solidFill>
                          <a:latin typeface="Segoe UI"/>
                        </a:defRPr>
                      </a:pPr>
                      <a:r>
                        <a:t>Requires offline SVD staging; evaluated against multi-domain category proxy.</a:t>
                      </a:r>
                    </a:p>
                  </a:txBody>
                  <a:tcPr>
                    <a:solidFill>
                      <a:srgbClr val="F8FAFC"/>
                    </a:solidFill>
                  </a:tcPr>
                </a:tc>
                <a:tc>
                  <a:txBody>
                    <a:bodyPr/>
                    <a:lstStyle/>
                    <a:p>
                      <a:pPr>
                        <a:defRPr sz="950">
                          <a:solidFill>
                            <a:srgbClr val="0F172A"/>
                          </a:solidFill>
                          <a:latin typeface="Segoe UI"/>
                        </a:defRPr>
                      </a:pPr>
                      <a:r>
                        <a:t>End-to-end zero-dependency Information Retrieval architecture verified on 50,000 docs.</a:t>
                      </a:r>
                    </a:p>
                  </a:txBody>
                  <a:tcPr>
                    <a:solidFill>
                      <a:srgbClr val="F8FAFC"/>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Research Gap &amp; Defensible Novelty</a:t>
            </a:r>
          </a:p>
        </p:txBody>
      </p:sp>
      <p:sp>
        <p:nvSpPr>
          <p:cNvPr id="3" name="Rounded Rectangle 2"/>
          <p:cNvSpPr/>
          <p:nvPr/>
        </p:nvSpPr>
        <p:spPr>
          <a:xfrm>
            <a:off x="7315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600200"/>
            <a:ext cx="4754880" cy="4389120"/>
          </a:xfrm>
          <a:prstGeom prst="rect">
            <a:avLst/>
          </a:prstGeom>
          <a:noFill/>
        </p:spPr>
        <p:txBody>
          <a:bodyPr wrap="square">
            <a:spAutoFit/>
          </a:bodyPr>
          <a:lstStyle/>
          <a:p>
            <a:pPr>
              <a:defRPr sz="1600" b="1">
                <a:solidFill>
                  <a:srgbClr val="0F172A"/>
                </a:solidFill>
                <a:latin typeface="Segoe UI"/>
              </a:defRPr>
            </a:pPr>
            <a:r>
              <a:t>Identified Research Gap</a:t>
            </a:r>
          </a:p>
          <a:p>
            <a:br/>
            <a:pPr>
              <a:defRPr sz="1100">
                <a:solidFill>
                  <a:srgbClr val="0F172A"/>
                </a:solidFill>
                <a:latin typeface="Segoe UI"/>
              </a:defRPr>
            </a:pPr>
            <a:r>
              <a:t>1. Disconnected Educational &amp; Production Paradigms:</a:t>
            </a:r>
            <a:br/>
            <a:r>
              <a:t>Academic IR projects frequently present inverted indexes or vector space models as disjoint console scripts. Students and researchers lack unified testbeds that juxtapose classical keyword, probabilistic, and latent semantic models side-by-side on identical queries.</a:t>
            </a:r>
          </a:p>
          <a:p>
            <a:br/>
            <a:pPr>
              <a:defRPr sz="1100">
                <a:solidFill>
                  <a:srgbClr val="0F172A"/>
                </a:solidFill>
                <a:latin typeface="Segoe UI"/>
              </a:defRPr>
            </a:pPr>
            <a:r>
              <a:t>2. Absence of Query-Coverage Penalties:</a:t>
            </a:r>
            <a:br/>
            <a:r>
              <a:t>Standard TF-IDF textbooks omit term-coverage constraints, leading to false positives where 1 of 4 search terms dominates the score due to raw frequency.</a:t>
            </a:r>
          </a:p>
          <a:p>
            <a:br/>
            <a:pPr>
              <a:defRPr sz="1100">
                <a:solidFill>
                  <a:srgbClr val="0F172A"/>
                </a:solidFill>
                <a:latin typeface="Segoe UI"/>
              </a:defRPr>
            </a:pPr>
            <a:r>
              <a:t>3. Opacity in Retrieval Scoring:</a:t>
            </a:r>
            <a:br/>
            <a:r>
              <a:t>Existing search frameworks return opaque float scores without indicating which terms matched, what fraction of the query was covered, or which latent concepts contributed to relevance.</a:t>
            </a:r>
          </a:p>
          <a:p>
            <a:br/>
            <a:pPr>
              <a:defRPr sz="1100">
                <a:solidFill>
                  <a:srgbClr val="0F172A"/>
                </a:solidFill>
                <a:latin typeface="Segoe UI"/>
              </a:defRPr>
            </a:pPr>
            <a:r>
              <a:t>4. Heavy Framework Bloat:</a:t>
            </a:r>
            <a:br/>
            <a:r>
              <a:t>Most semantic IR engines depend on heavy Python/PyTorch microservices, preventing lightweight, zero-dependency deployment.</a:t>
            </a:r>
          </a:p>
        </p:txBody>
      </p:sp>
      <p:sp>
        <p:nvSpPr>
          <p:cNvPr id="5" name="Rounded Rectangle 4"/>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1600200"/>
            <a:ext cx="4754880" cy="4389120"/>
          </a:xfrm>
          <a:prstGeom prst="rect">
            <a:avLst/>
          </a:prstGeom>
          <a:noFill/>
        </p:spPr>
        <p:txBody>
          <a:bodyPr wrap="square">
            <a:spAutoFit/>
          </a:bodyPr>
          <a:lstStyle/>
          <a:p>
            <a:pPr>
              <a:defRPr sz="1600" b="1">
                <a:solidFill>
                  <a:srgbClr val="7C3AED"/>
                </a:solidFill>
                <a:latin typeface="Segoe UI"/>
              </a:defRPr>
            </a:pPr>
            <a:r>
              <a:t>Defensible Scientific &amp; Engineering Novelty</a:t>
            </a:r>
          </a:p>
          <a:p>
            <a:br/>
            <a:pPr>
              <a:defRPr sz="1100">
                <a:solidFill>
                  <a:srgbClr val="0F172A"/>
                </a:solidFill>
                <a:latin typeface="Segoe UI"/>
              </a:defRPr>
            </a:pPr>
            <a:r>
              <a:t>We do NOT claim to have invented inverted indexes, BM25, or SVD. Rather, our defensible contribution lies in the rigorous integration and empirical validation of:</a:t>
            </a:r>
          </a:p>
          <a:p>
            <a:br/>
            <a:pPr>
              <a:defRPr sz="1100">
                <a:solidFill>
                  <a:srgbClr val="0F172A"/>
                </a:solidFill>
                <a:latin typeface="Segoe UI"/>
              </a:defRPr>
            </a:pPr>
            <a:r>
              <a:t>• Unified Dual-Engine Hybrid Paradigm:</a:t>
            </a:r>
            <a:br/>
            <a:r>
              <a:t>Simultaneous co-existence of an exact inverted index and a 128-dimensional LSA concept space running in pure Java with zero external runtime dependencies.</a:t>
            </a:r>
          </a:p>
          <a:p>
            <a:br/>
            <a:pPr>
              <a:defRPr sz="1100">
                <a:solidFill>
                  <a:srgbClr val="0F172A"/>
                </a:solidFill>
                <a:latin typeface="Segoe UI"/>
              </a:defRPr>
            </a:pPr>
            <a:r>
              <a:t>• Coverage-Aware Penalty Formulation:</a:t>
            </a:r>
            <a:br/>
            <a:r>
              <a:t>A simple yet mathematically sound non-linear term coverage multiplier that lifts Mean Precision@5 by +20.0% and prevents rare-word inflation.</a:t>
            </a:r>
          </a:p>
          <a:p>
            <a:br/>
            <a:pPr>
              <a:defRPr sz="1100">
                <a:solidFill>
                  <a:srgbClr val="0F172A"/>
                </a:solidFill>
                <a:latin typeface="Segoe UI"/>
              </a:defRPr>
            </a:pPr>
            <a:r>
              <a:t>• Interactive 3-Way Comparative Ranking Lab:</a:t>
            </a:r>
            <a:br/>
            <a:r>
              <a:t>Side-by-side synchronized evaluation of Coverage-Aware, BM25, and Baseline models with transparent explainability metrics.</a:t>
            </a:r>
          </a:p>
          <a:p>
            <a:br/>
            <a:pPr>
              <a:defRPr sz="1100">
                <a:solidFill>
                  <a:srgbClr val="0F172A"/>
                </a:solidFill>
                <a:latin typeface="Segoe UI"/>
              </a:defRPr>
            </a:pPr>
            <a:r>
              <a:t>• Integrated Research Workspace &amp; Telemetry:</a:t>
            </a:r>
            <a:br/>
            <a:r>
              <a:t>Persistent client-server bookmarks, collections, notes, and manual Google evaluation suite operating across 50,000 verified documents.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System Architecture &amp; End-to-End Data Flow</a:t>
            </a:r>
          </a:p>
        </p:txBody>
      </p:sp>
      <p:sp>
        <p:nvSpPr>
          <p:cNvPr id="3" name="Rounded Rectangle 2"/>
          <p:cNvSpPr/>
          <p:nvPr/>
        </p:nvSpPr>
        <p:spPr>
          <a:xfrm>
            <a:off x="731520" y="1280160"/>
            <a:ext cx="10728655" cy="1143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362895" cy="960120"/>
          </a:xfrm>
          <a:prstGeom prst="rect">
            <a:avLst/>
          </a:prstGeom>
          <a:noFill/>
        </p:spPr>
        <p:txBody>
          <a:bodyPr wrap="square">
            <a:spAutoFit/>
          </a:bodyPr>
          <a:lstStyle/>
          <a:p>
            <a:pPr>
              <a:defRPr sz="1300" b="1">
                <a:solidFill>
                  <a:srgbClr val="7C3AED"/>
                </a:solidFill>
                <a:latin typeface="Segoe UI"/>
              </a:defRPr>
            </a:pPr>
            <a:r>
              <a:t>Tier 1: Data Ingestion &amp; Offline Modeling</a:t>
            </a:r>
          </a:p>
          <a:p>
            <a:pPr>
              <a:defRPr sz="1050">
                <a:solidFill>
                  <a:srgbClr val="0F172A"/>
                </a:solidFill>
                <a:latin typeface="Segoe UI"/>
              </a:defRPr>
            </a:pPr>
            <a:r>
              <a:t>• 50,000 Multi-Domain Corpus (11 Categories)</a:t>
            </a:r>
            <a:br/>
            <a:r>
              <a:t>• SHA-256 Deduplication &amp; Token Ingestion</a:t>
            </a:r>
            <a:br/>
            <a:r>
              <a:t>• Offline Truncated SVD (128 Dimensions)</a:t>
            </a:r>
            <a:br/>
            <a:r>
              <a:t>• Dense Binary Matrices: doc_vectors.bin (25.6 MB), term_vectors.bin (12.8 MB)</a:t>
            </a:r>
          </a:p>
        </p:txBody>
      </p:sp>
      <p:sp>
        <p:nvSpPr>
          <p:cNvPr id="5" name="Rounded Rectangle 4"/>
          <p:cNvSpPr/>
          <p:nvPr/>
        </p:nvSpPr>
        <p:spPr>
          <a:xfrm>
            <a:off x="731520" y="2560320"/>
            <a:ext cx="10728655" cy="1143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1760"/>
            <a:ext cx="10362895" cy="960120"/>
          </a:xfrm>
          <a:prstGeom prst="rect">
            <a:avLst/>
          </a:prstGeom>
          <a:noFill/>
        </p:spPr>
        <p:txBody>
          <a:bodyPr wrap="square">
            <a:spAutoFit/>
          </a:bodyPr>
          <a:lstStyle/>
          <a:p>
            <a:pPr>
              <a:defRPr sz="1300" b="1">
                <a:solidFill>
                  <a:srgbClr val="2563EB"/>
                </a:solidFill>
                <a:latin typeface="Segoe UI"/>
              </a:defRPr>
            </a:pPr>
            <a:r>
              <a:t>Tier 2: In-Memory Indexing &amp; Core Data Structures</a:t>
            </a:r>
          </a:p>
          <a:p>
            <a:pPr>
              <a:defRPr sz="1050">
                <a:solidFill>
                  <a:srgbClr val="0F172A"/>
                </a:solidFill>
                <a:latin typeface="Segoe UI"/>
              </a:defRPr>
            </a:pPr>
            <a:r>
              <a:t>• Compressed Radix Trie: Edge substring compression; O(L) prefix lookup</a:t>
            </a:r>
            <a:br/>
            <a:r>
              <a:t>• Inverted Index: Term-to-Document Posting Lists (64,380 unique terms)</a:t>
            </a:r>
            <a:br/>
            <a:r>
              <a:t>• LSA Vector Engine: Dense SIMD float arrays; 128-D dot product similarity</a:t>
            </a:r>
            <a:br/>
            <a:r>
              <a:t>• Ranking Engine: Coverage-Aware TF-IDF &amp; Okapi BM25</a:t>
            </a:r>
          </a:p>
        </p:txBody>
      </p:sp>
      <p:sp>
        <p:nvSpPr>
          <p:cNvPr id="7" name="Rounded Rectangle 6"/>
          <p:cNvSpPr/>
          <p:nvPr/>
        </p:nvSpPr>
        <p:spPr>
          <a:xfrm>
            <a:off x="731520" y="3840479"/>
            <a:ext cx="10728655" cy="1143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931919"/>
            <a:ext cx="10362895" cy="960120"/>
          </a:xfrm>
          <a:prstGeom prst="rect">
            <a:avLst/>
          </a:prstGeom>
          <a:noFill/>
        </p:spPr>
        <p:txBody>
          <a:bodyPr wrap="square">
            <a:spAutoFit/>
          </a:bodyPr>
          <a:lstStyle/>
          <a:p>
            <a:pPr>
              <a:defRPr sz="1300" b="1">
                <a:solidFill>
                  <a:srgbClr val="06B6D4"/>
                </a:solidFill>
                <a:latin typeface="Segoe UI"/>
              </a:defRPr>
            </a:pPr>
            <a:r>
              <a:t>Tier 3: Zero-Dependency Server &amp; REST APIs</a:t>
            </a:r>
          </a:p>
          <a:p>
            <a:pPr>
              <a:defRPr sz="1050">
                <a:solidFill>
                  <a:srgbClr val="0F172A"/>
                </a:solidFill>
                <a:latin typeface="Segoe UI"/>
              </a:defRPr>
            </a:pPr>
            <a:r>
              <a:t>• JDK com.sun.net.httpserver (Port 8080)</a:t>
            </a:r>
            <a:br/>
            <a:r>
              <a:t>• REST Endpoints: /api/suggest, /api/search, /api/document, /api/evaluate</a:t>
            </a:r>
            <a:br/>
            <a:r>
              <a:t>• WorkspaceManager: Persistent JSON bookmarks, collections, notes</a:t>
            </a:r>
            <a:br/>
            <a:r>
              <a:t>• AnalyticsManager: Real-time query telemetry &amp; browser RTT logging</a:t>
            </a:r>
          </a:p>
        </p:txBody>
      </p:sp>
      <p:sp>
        <p:nvSpPr>
          <p:cNvPr id="9" name="Rounded Rectangle 8"/>
          <p:cNvSpPr/>
          <p:nvPr/>
        </p:nvSpPr>
        <p:spPr>
          <a:xfrm>
            <a:off x="731520" y="5120640"/>
            <a:ext cx="10728655" cy="11430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12080"/>
            <a:ext cx="10362895" cy="960120"/>
          </a:xfrm>
          <a:prstGeom prst="rect">
            <a:avLst/>
          </a:prstGeom>
          <a:noFill/>
        </p:spPr>
        <p:txBody>
          <a:bodyPr wrap="square">
            <a:spAutoFit/>
          </a:bodyPr>
          <a:lstStyle/>
          <a:p>
            <a:pPr>
              <a:defRPr sz="1300" b="1">
                <a:solidFill>
                  <a:srgbClr val="10B981"/>
                </a:solidFill>
                <a:latin typeface="Segoe UI"/>
              </a:defRPr>
            </a:pPr>
            <a:r>
              <a:t>Tier 4: Responsive Modern Web Presentation</a:t>
            </a:r>
          </a:p>
          <a:p>
            <a:pPr>
              <a:defRPr sz="1050">
                <a:solidFill>
                  <a:srgbClr val="0F172A"/>
                </a:solidFill>
                <a:latin typeface="Segoe UI"/>
              </a:defRPr>
            </a:pPr>
            <a:r>
              <a:t>• Single-Page Web Application (Vanilla JS, CSS3, Semantic HTML5)</a:t>
            </a:r>
            <a:br/>
            <a:r>
              <a:t>• Live Compressed Trie Autocomplete Dropdown</a:t>
            </a:r>
            <a:br/>
            <a:r>
              <a:t>• Explainable Result Cards (Coverage pills, active latent concepts)</a:t>
            </a:r>
            <a:br/>
            <a:r>
              <a:t>• 3-Way Comparison Lab, Analytics Dashboard, Google Evaluation Suite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Core Data Structures: Compressed Trie &amp; Inverted Index</a:t>
            </a:r>
          </a:p>
        </p:txBody>
      </p:sp>
      <p:sp>
        <p:nvSpPr>
          <p:cNvPr id="3" name="Rounded Rectangle 2"/>
          <p:cNvSpPr/>
          <p:nvPr/>
        </p:nvSpPr>
        <p:spPr>
          <a:xfrm>
            <a:off x="7315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600200"/>
            <a:ext cx="4754880" cy="4389120"/>
          </a:xfrm>
          <a:prstGeom prst="rect">
            <a:avLst/>
          </a:prstGeom>
          <a:noFill/>
        </p:spPr>
        <p:txBody>
          <a:bodyPr wrap="square">
            <a:spAutoFit/>
          </a:bodyPr>
          <a:lstStyle/>
          <a:p>
            <a:pPr>
              <a:defRPr sz="1600" b="1">
                <a:solidFill>
                  <a:srgbClr val="2563EB"/>
                </a:solidFill>
                <a:latin typeface="Segoe UI"/>
              </a:defRPr>
            </a:pPr>
            <a:r>
              <a:t>Compressed Radix Trie (Trie.java)</a:t>
            </a:r>
          </a:p>
          <a:p>
            <a:br/>
            <a:pPr>
              <a:defRPr sz="1100">
                <a:solidFill>
                  <a:srgbClr val="0F172A"/>
                </a:solidFill>
                <a:latin typeface="Segoe UI"/>
              </a:defRPr>
            </a:pPr>
            <a:r>
              <a:t>• Edge Substring Compression:</a:t>
            </a:r>
            <a:br/>
            <a:r>
              <a:t>Unlike a standard Trie where each edge represents exactly 1 character, our Radix Trie stores full substrings on edges (e.g., 'crick' -&gt; 'et' instead of 'c'-'r'-'i'-'c'-'k'-'e'-'t').</a:t>
            </a:r>
          </a:p>
          <a:p>
            <a:br/>
            <a:pPr>
              <a:defRPr sz="1100">
                <a:solidFill>
                  <a:srgbClr val="0F172A"/>
                </a:solidFill>
                <a:latin typeface="Segoe UI"/>
              </a:defRPr>
            </a:pPr>
            <a:r>
              <a:t>• Node Splitting Algorithm:</a:t>
            </a:r>
            <a:br/>
            <a:r>
              <a:t>When inserting a word sharing a common prefix with an existing edge, the edge is split dynamically into a common parent node and distinct branch children.</a:t>
            </a:r>
          </a:p>
          <a:p>
            <a:br/>
            <a:pPr>
              <a:defRPr sz="1100">
                <a:solidFill>
                  <a:srgbClr val="0F172A"/>
                </a:solidFill>
                <a:latin typeface="Segoe UI"/>
              </a:defRPr>
            </a:pPr>
            <a:r>
              <a:t>• Sub-Millisecond Complexity O(L):</a:t>
            </a:r>
            <a:br/>
            <a:r>
              <a:t>Prefix search latency depends solely on prefix string length L, completely independent of corpus document volume N.</a:t>
            </a:r>
          </a:p>
          <a:p>
            <a:br/>
            <a:pPr>
              <a:defRPr sz="1100">
                <a:solidFill>
                  <a:srgbClr val="0F172A"/>
                </a:solidFill>
                <a:latin typeface="Segoe UI"/>
              </a:defRPr>
            </a:pPr>
            <a:r>
              <a:t>• Verified Benchmark Performance:</a:t>
            </a:r>
            <a:br/>
            <a:r>
              <a:t>Lookup time ranges from 0.067 ms to 0.513 ms across 64,380 unique terms, providing silky smooth 60fps live typing suggestions.</a:t>
            </a:r>
          </a:p>
        </p:txBody>
      </p:sp>
      <p:sp>
        <p:nvSpPr>
          <p:cNvPr id="5" name="Rounded Rectangle 4"/>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1600200"/>
            <a:ext cx="4754880" cy="4389120"/>
          </a:xfrm>
          <a:prstGeom prst="rect">
            <a:avLst/>
          </a:prstGeom>
          <a:noFill/>
        </p:spPr>
        <p:txBody>
          <a:bodyPr wrap="square">
            <a:spAutoFit/>
          </a:bodyPr>
          <a:lstStyle/>
          <a:p>
            <a:pPr>
              <a:defRPr sz="1600" b="1">
                <a:solidFill>
                  <a:srgbClr val="7C3AED"/>
                </a:solidFill>
                <a:latin typeface="Segoe UI"/>
              </a:defRPr>
            </a:pPr>
            <a:r>
              <a:t>Inverted Index (InvertedIndex.java)</a:t>
            </a:r>
          </a:p>
          <a:p>
            <a:br/>
            <a:pPr>
              <a:defRPr sz="1100">
                <a:solidFill>
                  <a:srgbClr val="0F172A"/>
                </a:solidFill>
                <a:latin typeface="Segoe UI"/>
              </a:defRPr>
            </a:pPr>
            <a:r>
              <a:t>• Postings List Organization:</a:t>
            </a:r>
            <a:br/>
            <a:r>
              <a:t>Map&lt;String, Set&lt;String&gt;&gt; mapping each unique normalized vocabulary term to the exact set of Document IDs in which it occurs.</a:t>
            </a:r>
          </a:p>
          <a:p>
            <a:br/>
            <a:pPr>
              <a:defRPr sz="1100">
                <a:solidFill>
                  <a:srgbClr val="0F172A"/>
                </a:solidFill>
                <a:latin typeface="Segoe UI"/>
              </a:defRPr>
            </a:pPr>
            <a:r>
              <a:t>• Sublinear Candidate Pruning:</a:t>
            </a:r>
            <a:br/>
            <a:r>
              <a:t>During query evaluation, candidate documents are discovered via fast Set union across valid query terms, avoiding full O(N) linear corpus scans.</a:t>
            </a:r>
          </a:p>
          <a:p>
            <a:br/>
            <a:pPr>
              <a:defRPr sz="1100">
                <a:solidFill>
                  <a:srgbClr val="0F172A"/>
                </a:solidFill>
                <a:latin typeface="Segoe UI"/>
              </a:defRPr>
            </a:pPr>
            <a:r>
              <a:t>• Memory Footprint Optimization:</a:t>
            </a:r>
            <a:br/>
            <a:r>
              <a:t>Indexes 3,152,014 tokens and 64,380 vocabulary terms using only 132 MB of heap memory, enabling local deployment without server clustering.</a:t>
            </a:r>
          </a:p>
          <a:p>
            <a:br/>
            <a:pPr>
              <a:defRPr sz="1100">
                <a:solidFill>
                  <a:srgbClr val="0F172A"/>
                </a:solidFill>
                <a:latin typeface="Segoe UI"/>
              </a:defRPr>
            </a:pPr>
            <a:r>
              <a:t>• High Ingestion Throughput:</a:t>
            </a:r>
            <a:br/>
            <a:r>
              <a:t>Full document tokenization and inverted index construction across 50,000 files completes in 2.11 seconds.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Ranking Algorithms &amp; Coverage-Aware TF-IDF Formulation</a:t>
            </a:r>
          </a:p>
        </p:txBody>
      </p:sp>
      <p:sp>
        <p:nvSpPr>
          <p:cNvPr id="3" name="Rounded Rectangle 2"/>
          <p:cNvSpPr/>
          <p:nvPr/>
        </p:nvSpPr>
        <p:spPr>
          <a:xfrm>
            <a:off x="731520" y="1371600"/>
            <a:ext cx="342900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00200"/>
            <a:ext cx="3154680" cy="4389120"/>
          </a:xfrm>
          <a:prstGeom prst="rect">
            <a:avLst/>
          </a:prstGeom>
          <a:noFill/>
        </p:spPr>
        <p:txBody>
          <a:bodyPr wrap="square">
            <a:spAutoFit/>
          </a:bodyPr>
          <a:lstStyle/>
          <a:p>
            <a:pPr>
              <a:defRPr sz="1500" b="1">
                <a:solidFill>
                  <a:srgbClr val="0F172A"/>
                </a:solidFill>
                <a:latin typeface="Segoe UI"/>
              </a:defRPr>
            </a:pPr>
            <a:r>
              <a:t>Baseline TF-IDF</a:t>
            </a:r>
          </a:p>
          <a:p>
            <a:br/>
            <a:pPr>
              <a:defRPr sz="1100" b="1">
                <a:solidFill>
                  <a:srgbClr val="7C3AED"/>
                </a:solidFill>
                <a:latin typeface="Consolas"/>
              </a:defRPr>
            </a:pPr>
            <a:r>
              <a:t>Formula:</a:t>
            </a:r>
            <a:br/>
            <a:r>
              <a:t>Score = Sum(TF(t, d) * IDF(t))</a:t>
            </a:r>
          </a:p>
          <a:p>
            <a:br/>
            <a:pPr>
              <a:defRPr sz="1050">
                <a:solidFill>
                  <a:srgbClr val="0F172A"/>
                </a:solidFill>
                <a:latin typeface="Segoe UI"/>
              </a:defRPr>
            </a:pPr>
            <a:r>
              <a:t>• Linear summation over query terms.</a:t>
            </a:r>
            <a:br/>
            <a:r>
              <a:t>• IDF(t) = ln(N / DF(t)).</a:t>
            </a:r>
            <a:br/>
            <a:r>
              <a:t>• Severe Anomaly:</a:t>
            </a:r>
            <a:br/>
            <a:r>
              <a:t>  If one term has high TF and rare IDF, it overwhelms missing terms completely.</a:t>
            </a:r>
            <a:br/>
            <a:r>
              <a:t>• Mean P@5: 68.00%</a:t>
            </a:r>
            <a:br/>
            <a:r>
              <a:t>• Mean nDCG@5: 0.7859</a:t>
            </a:r>
          </a:p>
        </p:txBody>
      </p:sp>
      <p:sp>
        <p:nvSpPr>
          <p:cNvPr id="5" name="Rounded Rectangle 4"/>
          <p:cNvSpPr/>
          <p:nvPr/>
        </p:nvSpPr>
        <p:spPr>
          <a:xfrm>
            <a:off x="4343400" y="1371600"/>
            <a:ext cx="3429000" cy="4846320"/>
          </a:xfrm>
          <a:prstGeom prst="roundRect">
            <a:avLst/>
          </a:prstGeom>
          <a:solidFill>
            <a:srgbClr val="F8FAFC"/>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80560" y="1600200"/>
            <a:ext cx="3154680" cy="4389120"/>
          </a:xfrm>
          <a:prstGeom prst="rect">
            <a:avLst/>
          </a:prstGeom>
          <a:noFill/>
        </p:spPr>
        <p:txBody>
          <a:bodyPr wrap="square">
            <a:spAutoFit/>
          </a:bodyPr>
          <a:lstStyle/>
          <a:p>
            <a:pPr>
              <a:defRPr sz="1500" b="1">
                <a:solidFill>
                  <a:srgbClr val="7C3AED"/>
                </a:solidFill>
                <a:latin typeface="Segoe UI"/>
              </a:defRPr>
            </a:pPr>
            <a:r>
              <a:t>Coverage-Aware TF-IDF</a:t>
            </a:r>
          </a:p>
          <a:p>
            <a:br/>
            <a:pPr>
              <a:defRPr sz="1100" b="1">
                <a:solidFill>
                  <a:srgbClr val="7C3AED"/>
                </a:solidFill>
                <a:latin typeface="Consolas"/>
              </a:defRPr>
            </a:pPr>
            <a:r>
              <a:t>Formula:</a:t>
            </a:r>
            <a:br/>
            <a:r>
              <a:t>Score_cov = Score_raw * (m / k)^1.5</a:t>
            </a:r>
          </a:p>
          <a:p>
            <a:br/>
            <a:pPr>
              <a:defRPr sz="1050">
                <a:solidFill>
                  <a:srgbClr val="0F172A"/>
                </a:solidFill>
                <a:latin typeface="Segoe UI"/>
              </a:defRPr>
            </a:pPr>
            <a:r>
              <a:t>• m = matched terms in doc</a:t>
            </a:r>
            <a:br/>
            <a:r>
              <a:t>• k = total valid query terms</a:t>
            </a:r>
            <a:br/>
            <a:r>
              <a:t>• Coverage Ratio = m / k</a:t>
            </a:r>
            <a:br/>
            <a:r>
              <a:t>• Exponent 1.5 creates steep non-linear penalty for partial matches.</a:t>
            </a:r>
            <a:br/>
            <a:r>
              <a:t>• 4/4 match -&gt; factor 1.0 (100%)</a:t>
            </a:r>
            <a:br/>
            <a:r>
              <a:t>• 1/4 match -&gt; factor 0.125 (87.5% penalty!)</a:t>
            </a:r>
            <a:br/>
            <a:r>
              <a:t>• Mean P@5: 88.00% (+20%)</a:t>
            </a:r>
            <a:br/>
            <a:r>
              <a:t>• Mean nDCG@5: 0.8936</a:t>
            </a:r>
          </a:p>
        </p:txBody>
      </p:sp>
      <p:sp>
        <p:nvSpPr>
          <p:cNvPr id="7" name="Rounded Rectangle 6"/>
          <p:cNvSpPr/>
          <p:nvPr/>
        </p:nvSpPr>
        <p:spPr>
          <a:xfrm>
            <a:off x="7955279" y="1371600"/>
            <a:ext cx="342900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600200"/>
            <a:ext cx="3154680" cy="4389120"/>
          </a:xfrm>
          <a:prstGeom prst="rect">
            <a:avLst/>
          </a:prstGeom>
          <a:noFill/>
        </p:spPr>
        <p:txBody>
          <a:bodyPr wrap="square">
            <a:spAutoFit/>
          </a:bodyPr>
          <a:lstStyle/>
          <a:p>
            <a:pPr>
              <a:defRPr sz="1500" b="1">
                <a:solidFill>
                  <a:srgbClr val="2563EB"/>
                </a:solidFill>
                <a:latin typeface="Segoe UI"/>
              </a:defRPr>
            </a:pPr>
            <a:r>
              <a:t>Okapi BM25</a:t>
            </a:r>
          </a:p>
          <a:p>
            <a:br/>
            <a:pPr>
              <a:defRPr sz="1100" b="1">
                <a:solidFill>
                  <a:srgbClr val="2563EB"/>
                </a:solidFill>
                <a:latin typeface="Consolas"/>
              </a:defRPr>
            </a:pPr>
            <a:r>
              <a:t>Formula:</a:t>
            </a:r>
            <a:br/>
            <a:r>
              <a:t>IDF * (TF*(k1+1)) / (TF + k1*B)</a:t>
            </a:r>
          </a:p>
          <a:p>
            <a:br/>
            <a:pPr>
              <a:defRPr sz="1050">
                <a:solidFill>
                  <a:srgbClr val="0F172A"/>
                </a:solidFill>
                <a:latin typeface="Segoe UI"/>
              </a:defRPr>
            </a:pPr>
            <a:r>
              <a:t>• B = (1 - b + b * (docLen / avgLen))</a:t>
            </a:r>
            <a:br/>
            <a:r>
              <a:t>• k1 = 1.2 (Term Saturation)</a:t>
            </a:r>
            <a:br/>
            <a:r>
              <a:t>• b = 0.75 (Length Normalization)</a:t>
            </a:r>
            <a:br/>
            <a:r>
              <a:t>• Prevents TF blowup from term repetition in short files.</a:t>
            </a:r>
            <a:br/>
            <a:r>
              <a:t>• Probabilistic relevance foundation.</a:t>
            </a:r>
            <a:br/>
            <a:r>
              <a:t>• Mean P@5: 90.00%</a:t>
            </a:r>
            <a:br/>
            <a:r>
              <a:t>• Mean nDCG@5: 0.9431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128-Dimensional Latent Semantic Analysis (LSA) Engine</a:t>
            </a:r>
          </a:p>
        </p:txBody>
      </p:sp>
      <p:sp>
        <p:nvSpPr>
          <p:cNvPr id="3" name="Rounded Rectangle 2"/>
          <p:cNvSpPr/>
          <p:nvPr/>
        </p:nvSpPr>
        <p:spPr>
          <a:xfrm>
            <a:off x="7315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600200"/>
            <a:ext cx="4754880" cy="4389120"/>
          </a:xfrm>
          <a:prstGeom prst="rect">
            <a:avLst/>
          </a:prstGeom>
          <a:noFill/>
        </p:spPr>
        <p:txBody>
          <a:bodyPr wrap="square">
            <a:spAutoFit/>
          </a:bodyPr>
          <a:lstStyle/>
          <a:p>
            <a:pPr>
              <a:defRPr sz="1600" b="1">
                <a:solidFill>
                  <a:srgbClr val="7C3AED"/>
                </a:solidFill>
                <a:latin typeface="Segoe UI"/>
              </a:defRPr>
            </a:pPr>
            <a:r>
              <a:t>Truncated SVD &amp; Concept Space Projection</a:t>
            </a:r>
          </a:p>
          <a:p>
            <a:br/>
            <a:pPr>
              <a:defRPr sz="1100">
                <a:solidFill>
                  <a:srgbClr val="0F172A"/>
                </a:solidFill>
                <a:latin typeface="Segoe UI"/>
              </a:defRPr>
            </a:pPr>
            <a:r>
              <a:t>• Mathematical Foundation:</a:t>
            </a:r>
            <a:br/>
            <a:r>
              <a:t>Matrix decomposition: X ≈ U_k · Σ_k · V_k^T</a:t>
            </a:r>
            <a:br/>
            <a:r>
              <a:t>where k = 128 latent semantic dimensions, X is the 50,000 × 25,000 TF-IDF document-term matrix.</a:t>
            </a:r>
          </a:p>
          <a:p>
            <a:br/>
            <a:pPr>
              <a:defRPr sz="1100">
                <a:solidFill>
                  <a:srgbClr val="0F172A"/>
                </a:solidFill>
                <a:latin typeface="Segoe UI"/>
              </a:defRPr>
            </a:pPr>
            <a:r>
              <a:t>• Query Projection into Latent Concept Space:</a:t>
            </a:r>
            <a:br/>
            <a:r>
              <a:t>q_vec = Sum(IDF(t) · TermVector(t))</a:t>
            </a:r>
            <a:br/>
            <a:r>
              <a:t>Normalized via unit L2 norm: q_norm = q_vec / ||q_vec||_2.</a:t>
            </a:r>
          </a:p>
          <a:p>
            <a:br/>
            <a:pPr>
              <a:defRPr sz="1100">
                <a:solidFill>
                  <a:srgbClr val="0F172A"/>
                </a:solidFill>
                <a:latin typeface="Segoe UI"/>
              </a:defRPr>
            </a:pPr>
            <a:r>
              <a:t>• Semantic Cosine Similarity:</a:t>
            </a:r>
            <a:br/>
            <a:r>
              <a:t>Score(q, d) = DotProduct(q_norm, doc_vec(d))</a:t>
            </a:r>
            <a:br/>
            <a:r>
              <a:t>Evaluated via dense SIMD float arrays in pure Java.</a:t>
            </a:r>
          </a:p>
          <a:p>
            <a:br/>
            <a:pPr>
              <a:defRPr sz="1100">
                <a:solidFill>
                  <a:srgbClr val="0F172A"/>
                </a:solidFill>
                <a:latin typeface="Segoe UI"/>
              </a:defRPr>
            </a:pPr>
            <a:r>
              <a:t>• Overcomes Vocabulary Mismatch:</a:t>
            </a:r>
            <a:br/>
            <a:r>
              <a:t>Retrieves relevant articles even when zero keywords overlap (e.g., query 'cardiac surgery' correctly retrieves cardiology papers discussing 'myocardial bypass' and 'valve repair').</a:t>
            </a:r>
          </a:p>
        </p:txBody>
      </p:sp>
      <p:sp>
        <p:nvSpPr>
          <p:cNvPr id="5" name="Rounded Rectangle 4"/>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6_semantic_lsa_results.png"/>
          <p:cNvPicPr>
            <a:picLocks noChangeAspect="1"/>
          </p:cNvPicPr>
          <p:nvPr/>
        </p:nvPicPr>
        <p:blipFill>
          <a:blip r:embed="rId2"/>
          <a:stretch>
            <a:fillRect/>
          </a:stretch>
        </p:blipFill>
        <p:spPr>
          <a:xfrm>
            <a:off x="6309360" y="1463040"/>
            <a:ext cx="5029200" cy="3840480"/>
          </a:xfrm>
          <a:prstGeom prst="rect">
            <a:avLst/>
          </a:prstGeom>
        </p:spPr>
      </p:pic>
      <p:sp>
        <p:nvSpPr>
          <p:cNvPr id="7" name="TextBox 6"/>
          <p:cNvSpPr txBox="1"/>
          <p:nvPr/>
        </p:nvSpPr>
        <p:spPr>
          <a:xfrm>
            <a:off x="6309360" y="5394960"/>
            <a:ext cx="5029200" cy="731520"/>
          </a:xfrm>
          <a:prstGeom prst="rect">
            <a:avLst/>
          </a:prstGeom>
          <a:noFill/>
        </p:spPr>
        <p:txBody>
          <a:bodyPr wrap="square">
            <a:spAutoFit/>
          </a:bodyPr>
          <a:lstStyle/>
          <a:p>
            <a:pPr>
              <a:defRPr sz="950">
                <a:solidFill>
                  <a:srgbClr val="475569"/>
                </a:solidFill>
                <a:latin typeface="Segoe UI"/>
              </a:defRPr>
            </a:pPr>
            <a:r>
              <a:t>Verified Screenshot: Semantic Search for 'cardiac surgery' showing Cosine Similarity (0.898), Active Latent Topics, Related Keywords, and Explanations.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Multi-Domain Dataset Engineering (50,000 Documents)</a:t>
            </a:r>
          </a:p>
        </p:txBody>
      </p:sp>
      <p:sp>
        <p:nvSpPr>
          <p:cNvPr id="3" name="Rounded Rectangle 2"/>
          <p:cNvSpPr/>
          <p:nvPr/>
        </p:nvSpPr>
        <p:spPr>
          <a:xfrm>
            <a:off x="731520" y="1371600"/>
            <a:ext cx="548640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2_corpus_category_distribution.png"/>
          <p:cNvPicPr>
            <a:picLocks noChangeAspect="1"/>
          </p:cNvPicPr>
          <p:nvPr/>
        </p:nvPicPr>
        <p:blipFill>
          <a:blip r:embed="rId2"/>
          <a:stretch>
            <a:fillRect/>
          </a:stretch>
        </p:blipFill>
        <p:spPr>
          <a:xfrm>
            <a:off x="822960" y="1463040"/>
            <a:ext cx="5303520" cy="4114800"/>
          </a:xfrm>
          <a:prstGeom prst="rect">
            <a:avLst/>
          </a:prstGeom>
        </p:spPr>
      </p:pic>
      <p:sp>
        <p:nvSpPr>
          <p:cNvPr id="5" name="TextBox 4"/>
          <p:cNvSpPr txBox="1"/>
          <p:nvPr/>
        </p:nvSpPr>
        <p:spPr>
          <a:xfrm>
            <a:off x="822960" y="5623560"/>
            <a:ext cx="5303520" cy="548640"/>
          </a:xfrm>
          <a:prstGeom prst="rect">
            <a:avLst/>
          </a:prstGeom>
          <a:noFill/>
        </p:spPr>
        <p:txBody>
          <a:bodyPr wrap="none">
            <a:spAutoFit/>
          </a:bodyPr>
          <a:lstStyle/>
          <a:p>
            <a:pPr>
              <a:defRPr sz="950">
                <a:solidFill>
                  <a:srgbClr val="475569"/>
                </a:solidFill>
                <a:latin typeface="Segoe UI"/>
              </a:defRPr>
            </a:pPr>
            <a:r>
              <a:t>Figure: Verified Multi-Domain Corpus Distribution across 11 topical domains.</a:t>
            </a:r>
          </a:p>
        </p:txBody>
      </p:sp>
      <p:sp>
        <p:nvSpPr>
          <p:cNvPr id="6" name="Rounded Rectangle 5"/>
          <p:cNvSpPr/>
          <p:nvPr/>
        </p:nvSpPr>
        <p:spPr>
          <a:xfrm>
            <a:off x="6492240" y="1371600"/>
            <a:ext cx="493776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554480"/>
            <a:ext cx="4572000" cy="4389120"/>
          </a:xfrm>
          <a:prstGeom prst="rect">
            <a:avLst/>
          </a:prstGeom>
          <a:noFill/>
        </p:spPr>
        <p:txBody>
          <a:bodyPr wrap="square">
            <a:spAutoFit/>
          </a:bodyPr>
          <a:lstStyle/>
          <a:p>
            <a:pPr>
              <a:defRPr sz="1500" b="1">
                <a:solidFill>
                  <a:srgbClr val="0F172A"/>
                </a:solidFill>
                <a:latin typeface="Segoe UI"/>
              </a:defRPr>
            </a:pPr>
            <a:r>
              <a:t>Data Provenance &amp; Quality Guarantees</a:t>
            </a:r>
          </a:p>
          <a:p>
            <a:br/>
            <a:pPr>
              <a:defRPr sz="1050">
                <a:solidFill>
                  <a:srgbClr val="0F172A"/>
                </a:solidFill>
                <a:latin typeface="Segoe UI"/>
              </a:defRPr>
            </a:pPr>
            <a:r>
              <a:t>• Verified Sources &amp; Permissive Licenses:</a:t>
            </a:r>
            <a:br/>
            <a:r>
              <a:t>  - Misra News Category (44,175 docs; CC BY 4.0)</a:t>
            </a:r>
            <a:br/>
            <a:r>
              <a:t>  - OpenAlex Scholarly Catalog (3,000 docs; CC0)</a:t>
            </a:r>
            <a:br/>
            <a:r>
              <a:t>  - BBC News Corpus (2,225 docs; Academic Use)</a:t>
            </a:r>
            <a:br/>
            <a:r>
              <a:t>  - PubMed Central (600 docs; Public Domain)</a:t>
            </a:r>
          </a:p>
          <a:p>
            <a:br/>
            <a:pPr>
              <a:defRPr sz="1050">
                <a:solidFill>
                  <a:srgbClr val="0F172A"/>
                </a:solidFill>
                <a:latin typeface="Segoe UI"/>
              </a:defRPr>
            </a:pPr>
            <a:r>
              <a:t>• Cryptographic Deduplication:</a:t>
            </a:r>
            <a:br/>
            <a:r>
              <a:t>100% SHA-256 deduplicated across normalized lowercase tokens. 1,853 duplicate records rejected during staging.</a:t>
            </a:r>
          </a:p>
          <a:p>
            <a:br/>
            <a:pPr>
              <a:defRPr sz="1050">
                <a:solidFill>
                  <a:srgbClr val="0F172A"/>
                </a:solidFill>
                <a:latin typeface="Segoe UI"/>
              </a:defRPr>
            </a:pPr>
            <a:r>
              <a:t>• Collision-Free Document IDs:</a:t>
            </a:r>
            <a:br/>
            <a:r>
              <a:t>Sequential IDs (exp_00001 to exp_42175 + baselines) guarantee zero ID collisions.</a:t>
            </a:r>
          </a:p>
          <a:p>
            <a:br/>
            <a:pPr>
              <a:defRPr sz="1050">
                <a:solidFill>
                  <a:srgbClr val="0F172A"/>
                </a:solidFill>
                <a:latin typeface="Segoe UI"/>
              </a:defRPr>
            </a:pPr>
            <a:r>
              <a:t>• Substantive Content Filter:</a:t>
            </a:r>
            <a:br/>
            <a:r>
              <a:t>Every document contains at least 20 words (median ~85 words). Zero stub headlines or empty files.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Production Application UI &amp; Live Autocomplete</a:t>
            </a:r>
          </a:p>
        </p:txBody>
      </p:sp>
      <p:sp>
        <p:nvSpPr>
          <p:cNvPr id="3" name="Rounded Rectangle 2"/>
          <p:cNvSpPr/>
          <p:nvPr/>
        </p:nvSpPr>
        <p:spPr>
          <a:xfrm>
            <a:off x="7315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main_search_interface.png"/>
          <p:cNvPicPr>
            <a:picLocks noChangeAspect="1"/>
          </p:cNvPicPr>
          <p:nvPr/>
        </p:nvPicPr>
        <p:blipFill>
          <a:blip r:embed="rId2"/>
          <a:stretch>
            <a:fillRect/>
          </a:stretch>
        </p:blipFill>
        <p:spPr>
          <a:xfrm>
            <a:off x="822960" y="1463040"/>
            <a:ext cx="5029200" cy="3931920"/>
          </a:xfrm>
          <a:prstGeom prst="rect">
            <a:avLst/>
          </a:prstGeom>
        </p:spPr>
      </p:pic>
      <p:sp>
        <p:nvSpPr>
          <p:cNvPr id="5" name="TextBox 4"/>
          <p:cNvSpPr txBox="1"/>
          <p:nvPr/>
        </p:nvSpPr>
        <p:spPr>
          <a:xfrm>
            <a:off x="822960" y="5486400"/>
            <a:ext cx="5029200" cy="640080"/>
          </a:xfrm>
          <a:prstGeom prst="rect">
            <a:avLst/>
          </a:prstGeom>
          <a:noFill/>
        </p:spPr>
        <p:txBody>
          <a:bodyPr wrap="none">
            <a:spAutoFit/>
          </a:bodyPr>
          <a:lstStyle/>
          <a:p>
            <a:pPr>
              <a:defRPr sz="950">
                <a:solidFill>
                  <a:srgbClr val="475569"/>
                </a:solidFill>
                <a:latin typeface="Segoe UI"/>
              </a:defRPr>
            </a:pPr>
            <a:r>
              <a:t>Search Interface: Live stats banner (50,000 docs, 64,380 terms), algorithm tabs, category filter pills, quick query chips.</a:t>
            </a:r>
          </a:p>
        </p:txBody>
      </p:sp>
      <p:sp>
        <p:nvSpPr>
          <p:cNvPr id="6" name="Rounded Rectangle 5"/>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2_trie_autocomplete_dropdown.png"/>
          <p:cNvPicPr>
            <a:picLocks noChangeAspect="1"/>
          </p:cNvPicPr>
          <p:nvPr/>
        </p:nvPicPr>
        <p:blipFill>
          <a:blip r:embed="rId3"/>
          <a:stretch>
            <a:fillRect/>
          </a:stretch>
        </p:blipFill>
        <p:spPr>
          <a:xfrm>
            <a:off x="6309360" y="1463040"/>
            <a:ext cx="5029200" cy="3931920"/>
          </a:xfrm>
          <a:prstGeom prst="rect">
            <a:avLst/>
          </a:prstGeom>
        </p:spPr>
      </p:pic>
      <p:sp>
        <p:nvSpPr>
          <p:cNvPr id="8" name="TextBox 7"/>
          <p:cNvSpPr txBox="1"/>
          <p:nvPr/>
        </p:nvSpPr>
        <p:spPr>
          <a:xfrm>
            <a:off x="6309360" y="5486400"/>
            <a:ext cx="5029200" cy="640080"/>
          </a:xfrm>
          <a:prstGeom prst="rect">
            <a:avLst/>
          </a:prstGeom>
          <a:noFill/>
        </p:spPr>
        <p:txBody>
          <a:bodyPr wrap="none">
            <a:spAutoFit/>
          </a:bodyPr>
          <a:lstStyle/>
          <a:p>
            <a:pPr>
              <a:defRPr sz="950">
                <a:solidFill>
                  <a:srgbClr val="475569"/>
                </a:solidFill>
                <a:latin typeface="Segoe UI"/>
              </a:defRPr>
            </a:pPr>
            <a:r>
              <a:t>Compressed Trie Prefix Dropdown: Sub-millisecond prefix completion for 'crick' displaying vocabulary suggestions.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Three-Way Ranking Lab &amp; Research Workspace</a:t>
            </a:r>
          </a:p>
        </p:txBody>
      </p:sp>
      <p:sp>
        <p:nvSpPr>
          <p:cNvPr id="3" name="Rounded Rectangle 2"/>
          <p:cNvSpPr/>
          <p:nvPr/>
        </p:nvSpPr>
        <p:spPr>
          <a:xfrm>
            <a:off x="7315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7_three_way_comparison_lab.png"/>
          <p:cNvPicPr>
            <a:picLocks noChangeAspect="1"/>
          </p:cNvPicPr>
          <p:nvPr/>
        </p:nvPicPr>
        <p:blipFill>
          <a:blip r:embed="rId2"/>
          <a:stretch>
            <a:fillRect/>
          </a:stretch>
        </p:blipFill>
        <p:spPr>
          <a:xfrm>
            <a:off x="822960" y="1463040"/>
            <a:ext cx="5029200" cy="3931920"/>
          </a:xfrm>
          <a:prstGeom prst="rect">
            <a:avLst/>
          </a:prstGeom>
        </p:spPr>
      </p:pic>
      <p:sp>
        <p:nvSpPr>
          <p:cNvPr id="5" name="TextBox 4"/>
          <p:cNvSpPr txBox="1"/>
          <p:nvPr/>
        </p:nvSpPr>
        <p:spPr>
          <a:xfrm>
            <a:off x="822960" y="5486400"/>
            <a:ext cx="5029200" cy="640080"/>
          </a:xfrm>
          <a:prstGeom prst="rect">
            <a:avLst/>
          </a:prstGeom>
          <a:noFill/>
        </p:spPr>
        <p:txBody>
          <a:bodyPr wrap="none">
            <a:spAutoFit/>
          </a:bodyPr>
          <a:lstStyle/>
          <a:p>
            <a:pPr>
              <a:defRPr sz="950">
                <a:solidFill>
                  <a:srgbClr val="475569"/>
                </a:solidFill>
                <a:latin typeface="Segoe UI"/>
              </a:defRPr>
            </a:pPr>
            <a:r>
              <a:t>3-Way Ranking Comparison Lab: Side-by-side execution of Coverage-Aware TF-IDF, Okapi BM25, and Baseline TF-IDF for 'heart failure clinical trial'.</a:t>
            </a:r>
          </a:p>
        </p:txBody>
      </p:sp>
      <p:sp>
        <p:nvSpPr>
          <p:cNvPr id="6" name="Rounded Rectangle 5"/>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8_research_workspace.png"/>
          <p:cNvPicPr>
            <a:picLocks noChangeAspect="1"/>
          </p:cNvPicPr>
          <p:nvPr/>
        </p:nvPicPr>
        <p:blipFill>
          <a:blip r:embed="rId3"/>
          <a:stretch>
            <a:fillRect/>
          </a:stretch>
        </p:blipFill>
        <p:spPr>
          <a:xfrm>
            <a:off x="6309360" y="1463040"/>
            <a:ext cx="5029200" cy="3931920"/>
          </a:xfrm>
          <a:prstGeom prst="rect">
            <a:avLst/>
          </a:prstGeom>
        </p:spPr>
      </p:pic>
      <p:sp>
        <p:nvSpPr>
          <p:cNvPr id="8" name="TextBox 7"/>
          <p:cNvSpPr txBox="1"/>
          <p:nvPr/>
        </p:nvSpPr>
        <p:spPr>
          <a:xfrm>
            <a:off x="6309360" y="5486400"/>
            <a:ext cx="5029200" cy="640080"/>
          </a:xfrm>
          <a:prstGeom prst="rect">
            <a:avLst/>
          </a:prstGeom>
          <a:noFill/>
        </p:spPr>
        <p:txBody>
          <a:bodyPr wrap="none">
            <a:spAutoFit/>
          </a:bodyPr>
          <a:lstStyle/>
          <a:p>
            <a:pPr>
              <a:defRPr sz="950">
                <a:solidFill>
                  <a:srgbClr val="475569"/>
                </a:solidFill>
                <a:latin typeface="Segoe UI"/>
              </a:defRPr>
            </a:pPr>
            <a:r>
              <a:t>Research Workspace: Client-server persistence for bookmarks, custom collections, personal research notes, and saved search queries.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Experimental Results &amp; Measured Benchmarks</a:t>
            </a:r>
          </a:p>
        </p:txBody>
      </p:sp>
      <p:sp>
        <p:nvSpPr>
          <p:cNvPr id="3" name="Rounded Rectangle 2"/>
          <p:cNvSpPr/>
          <p:nvPr/>
        </p:nvSpPr>
        <p:spPr>
          <a:xfrm>
            <a:off x="7315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relevance_benchmark_chart.png"/>
          <p:cNvPicPr>
            <a:picLocks noChangeAspect="1"/>
          </p:cNvPicPr>
          <p:nvPr/>
        </p:nvPicPr>
        <p:blipFill>
          <a:blip r:embed="rId2"/>
          <a:stretch>
            <a:fillRect/>
          </a:stretch>
        </p:blipFill>
        <p:spPr>
          <a:xfrm>
            <a:off x="822960" y="1463040"/>
            <a:ext cx="5029200" cy="3931920"/>
          </a:xfrm>
          <a:prstGeom prst="rect">
            <a:avLst/>
          </a:prstGeom>
        </p:spPr>
      </p:pic>
      <p:sp>
        <p:nvSpPr>
          <p:cNvPr id="5" name="TextBox 4"/>
          <p:cNvSpPr txBox="1"/>
          <p:nvPr/>
        </p:nvSpPr>
        <p:spPr>
          <a:xfrm>
            <a:off x="822960" y="5486400"/>
            <a:ext cx="5029200" cy="640080"/>
          </a:xfrm>
          <a:prstGeom prst="rect">
            <a:avLst/>
          </a:prstGeom>
          <a:noFill/>
        </p:spPr>
        <p:txBody>
          <a:bodyPr wrap="none">
            <a:spAutoFit/>
          </a:bodyPr>
          <a:lstStyle/>
          <a:p>
            <a:pPr>
              <a:defRPr sz="950">
                <a:solidFill>
                  <a:srgbClr val="475569"/>
                </a:solidFill>
                <a:latin typeface="Segoe UI"/>
              </a:defRPr>
            </a:pPr>
            <a:r>
              <a:t>Relevance Quality: Coverage-Aware TF-IDF achieves 88.0% P@5 and 0.8936 nDCG@5 vs 68.0% P@5 for Baseline TF-IDF.</a:t>
            </a:r>
          </a:p>
        </p:txBody>
      </p:sp>
      <p:sp>
        <p:nvSpPr>
          <p:cNvPr id="6" name="Rounded Rectangle 5"/>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3_latency_breakdown_chart.png"/>
          <p:cNvPicPr>
            <a:picLocks noChangeAspect="1"/>
          </p:cNvPicPr>
          <p:nvPr/>
        </p:nvPicPr>
        <p:blipFill>
          <a:blip r:embed="rId3"/>
          <a:stretch>
            <a:fillRect/>
          </a:stretch>
        </p:blipFill>
        <p:spPr>
          <a:xfrm>
            <a:off x="6309360" y="1463040"/>
            <a:ext cx="5029200" cy="3931920"/>
          </a:xfrm>
          <a:prstGeom prst="rect">
            <a:avLst/>
          </a:prstGeom>
        </p:spPr>
      </p:pic>
      <p:sp>
        <p:nvSpPr>
          <p:cNvPr id="8" name="TextBox 7"/>
          <p:cNvSpPr txBox="1"/>
          <p:nvPr/>
        </p:nvSpPr>
        <p:spPr>
          <a:xfrm>
            <a:off x="6309360" y="5486400"/>
            <a:ext cx="5029200" cy="640080"/>
          </a:xfrm>
          <a:prstGeom prst="rect">
            <a:avLst/>
          </a:prstGeom>
          <a:noFill/>
        </p:spPr>
        <p:txBody>
          <a:bodyPr wrap="none">
            <a:spAutoFit/>
          </a:bodyPr>
          <a:lstStyle/>
          <a:p>
            <a:pPr>
              <a:defRPr sz="950">
                <a:solidFill>
                  <a:srgbClr val="475569"/>
                </a:solidFill>
                <a:latin typeface="Segoe UI"/>
              </a:defRPr>
            </a:pPr>
            <a:r>
              <a:t>Latency Breakdown: Distinguishing algorithmic backend latency (25-300 ms) from browser round-trip time (68-380 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7C3AED"/>
                </a:solidFill>
                <a:latin typeface="Segoe UI"/>
              </a:defRPr>
            </a:pPr>
            <a:r>
              <a:t>B.TECH CAPSTONE PROJECT REVIEW</a:t>
            </a:r>
          </a:p>
          <a:p>
            <a:pPr>
              <a:defRPr sz="2200" b="1">
                <a:solidFill>
                  <a:srgbClr val="0F172A"/>
                </a:solidFill>
                <a:latin typeface="Segoe UI"/>
              </a:defRPr>
            </a:pPr>
            <a:r>
              <a:t>Scientific Limitations, Conclusion &amp; Source Code</a:t>
            </a:r>
          </a:p>
        </p:txBody>
      </p:sp>
      <p:sp>
        <p:nvSpPr>
          <p:cNvPr id="3" name="Rounded Rectangle 2"/>
          <p:cNvSpPr/>
          <p:nvPr/>
        </p:nvSpPr>
        <p:spPr>
          <a:xfrm>
            <a:off x="7315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600200"/>
            <a:ext cx="4754880" cy="4389120"/>
          </a:xfrm>
          <a:prstGeom prst="rect">
            <a:avLst/>
          </a:prstGeom>
          <a:noFill/>
        </p:spPr>
        <p:txBody>
          <a:bodyPr wrap="square">
            <a:spAutoFit/>
          </a:bodyPr>
          <a:lstStyle/>
          <a:p>
            <a:pPr>
              <a:defRPr sz="1500" b="1">
                <a:solidFill>
                  <a:srgbClr val="DC2626"/>
                </a:solidFill>
                <a:latin typeface="Segoe UI"/>
              </a:defRPr>
            </a:pPr>
            <a:r>
              <a:t>Honest Scientific Boundaries &amp; Limitations</a:t>
            </a:r>
          </a:p>
          <a:p>
            <a:br/>
            <a:pPr>
              <a:defRPr sz="1050">
                <a:solidFill>
                  <a:srgbClr val="0F172A"/>
                </a:solidFill>
                <a:latin typeface="Segoe UI"/>
              </a:defRPr>
            </a:pPr>
            <a:r>
              <a:t>• Category-Level Precision Proxy:</a:t>
            </a:r>
            <a:br/>
            <a:r>
              <a:t>Automated precision/recall metrics measure categorical topical coherence, not fine-grained sentence-level factual correctness.</a:t>
            </a:r>
          </a:p>
          <a:p>
            <a:br/>
            <a:pPr>
              <a:defRPr sz="1050">
                <a:solidFill>
                  <a:srgbClr val="0F172A"/>
                </a:solidFill>
                <a:latin typeface="Segoe UI"/>
              </a:defRPr>
            </a:pPr>
            <a:r>
              <a:t>• Offline LSA Matrix Recomputation:</a:t>
            </a:r>
            <a:br/>
            <a:r>
              <a:t>Adding new documents requires re-running Truncated SVD offline rather than online streaming SVD update.</a:t>
            </a:r>
          </a:p>
          <a:p>
            <a:br/>
            <a:pPr>
              <a:defRPr sz="1050">
                <a:solidFill>
                  <a:srgbClr val="0F172A"/>
                </a:solidFill>
                <a:latin typeface="Segoe UI"/>
              </a:defRPr>
            </a:pPr>
            <a:r>
              <a:t>• Google Comparison Methodology:</a:t>
            </a:r>
            <a:br/>
            <a:r>
              <a:t>Our local engine indexes an offline curated 50,000-document corpus. We do not claim to outperform Google's web-scale trillion-page index; our Google Lab is designed for comparative human relevance evaluation on identical topical domains.</a:t>
            </a:r>
          </a:p>
          <a:p>
            <a:br/>
            <a:pPr>
              <a:defRPr sz="1050">
                <a:solidFill>
                  <a:srgbClr val="0F172A"/>
                </a:solidFill>
                <a:latin typeface="Segoe UI"/>
              </a:defRPr>
            </a:pPr>
            <a:r>
              <a:t>• Single-Node Architecture:</a:t>
            </a:r>
            <a:br/>
            <a:r>
              <a:t>Engine runs on a single JVM instance; distributed sharding across nodes is reserved for future scope.</a:t>
            </a:r>
          </a:p>
        </p:txBody>
      </p:sp>
      <p:sp>
        <p:nvSpPr>
          <p:cNvPr id="5" name="Rounded Rectangle 4"/>
          <p:cNvSpPr/>
          <p:nvPr/>
        </p:nvSpPr>
        <p:spPr>
          <a:xfrm>
            <a:off x="6217920" y="1371600"/>
            <a:ext cx="5212080" cy="48463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1600200"/>
            <a:ext cx="4754880" cy="4389120"/>
          </a:xfrm>
          <a:prstGeom prst="rect">
            <a:avLst/>
          </a:prstGeom>
          <a:noFill/>
        </p:spPr>
        <p:txBody>
          <a:bodyPr wrap="square">
            <a:spAutoFit/>
          </a:bodyPr>
          <a:lstStyle/>
          <a:p>
            <a:pPr>
              <a:defRPr sz="1500" b="1">
                <a:solidFill>
                  <a:srgbClr val="10B981"/>
                </a:solidFill>
                <a:latin typeface="Segoe UI"/>
              </a:defRPr>
            </a:pPr>
            <a:r>
              <a:t>Conclusion &amp; Demonstration Details</a:t>
            </a:r>
          </a:p>
          <a:p>
            <a:br/>
            <a:pPr>
              <a:defRPr sz="1050">
                <a:solidFill>
                  <a:srgbClr val="0F172A"/>
                </a:solidFill>
                <a:latin typeface="Segoe UI"/>
              </a:defRPr>
            </a:pPr>
            <a:r>
              <a:t>• Summary of Achievements:</a:t>
            </a:r>
            <a:br/>
            <a:r>
              <a:t>Successfully built, verified, and benchmarked an end-to-end zero-dependency Intelligent Search Engine. Proved that non-linear coverage weighting eliminates TF-IDF single-term inflation (+20% P@5).</a:t>
            </a:r>
          </a:p>
          <a:p>
            <a:br/>
            <a:pPr>
              <a:defRPr sz="1050">
                <a:solidFill>
                  <a:srgbClr val="0F172A"/>
                </a:solidFill>
                <a:latin typeface="Segoe UI"/>
              </a:defRPr>
            </a:pPr>
            <a:r>
              <a:t>• Live Demonstration Script:</a:t>
            </a:r>
            <a:br/>
            <a:r>
              <a:t>  1. Live Autocomplete typing at http://localhost:8080/</a:t>
            </a:r>
            <a:br/>
            <a:r>
              <a:t>  2. Query 'quantum cosmology' in Coverage &amp; BM25</a:t>
            </a:r>
            <a:br/>
            <a:r>
              <a:t>  3. 3-Way Comparison Lab with 'heart failure clinical trial'</a:t>
            </a:r>
            <a:br/>
            <a:r>
              <a:t>  4. 128-D LSA semantic retrieval for 'cardiac surgery'</a:t>
            </a:r>
            <a:br/>
            <a:r>
              <a:t>  5. Research Workspace bookmarking &amp; Live Analytics</a:t>
            </a:r>
          </a:p>
          <a:p>
            <a:br/>
            <a:pPr>
              <a:defRPr sz="1050">
                <a:solidFill>
                  <a:srgbClr val="0F172A"/>
                </a:solidFill>
                <a:latin typeface="Segoe UI"/>
              </a:defRPr>
            </a:pPr>
            <a:r>
              <a:t>• Verified Source Code Repository:</a:t>
            </a:r>
            <a:br/>
            <a:r>
              <a:t>Local Repository: C:\Users\mannu\IdeaProjects\SearchEngineProject</a:t>
            </a:r>
            <a:br/>
            <a:r>
              <a:t>Zero external runtime libraries; runs under Oracle JDK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